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9" r:id="rId3"/>
    <p:sldId id="265" r:id="rId4"/>
    <p:sldId id="257" r:id="rId5"/>
    <p:sldId id="258" r:id="rId6"/>
    <p:sldId id="266" r:id="rId7"/>
    <p:sldId id="267" r:id="rId8"/>
    <p:sldId id="259" r:id="rId9"/>
    <p:sldId id="261" r:id="rId10"/>
    <p:sldId id="268" r:id="rId11"/>
    <p:sldId id="262" r:id="rId12"/>
    <p:sldId id="263" r:id="rId13"/>
    <p:sldId id="270" r:id="rId1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987"/>
    <a:srgbClr val="FEAF18"/>
    <a:srgbClr val="FAC0A8"/>
    <a:srgbClr val="F5D055"/>
    <a:srgbClr val="061F1F"/>
    <a:srgbClr val="FDD795"/>
    <a:srgbClr val="7496BC"/>
    <a:srgbClr val="001B36"/>
    <a:srgbClr val="001C3C"/>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68" d="100"/>
          <a:sy n="68" d="100"/>
        </p:scale>
        <p:origin x="71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desktop-cegvea6\Documentos\Marca%20Personal%20Proyecto\Proyectos\Iberia%20Mayorista%20-%20An&#225;lisis%20de%20Ventas%20y%20Distribuci&#243;n%20-%20SQL%20y%20PowerBI\4%20Dasboard-PowerBI\Suma%20de%20MontoNeto%20por%20CanalVenta.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'Suma de MontoNeto por CanalVent'!$D$1</c:f>
              <c:strCache>
                <c:ptCount val="1"/>
                <c:pt idx="0">
                  <c:v>Suma de MontoNeto</c:v>
                </c:pt>
              </c:strCache>
            </c:strRef>
          </c:tx>
          <c:spPr>
            <a:ln>
              <a:noFill/>
            </a:ln>
          </c:spPr>
          <c:dPt>
            <c:idx val="0"/>
            <c:bubble3D val="0"/>
            <c:spPr>
              <a:solidFill>
                <a:schemeClr val="accent6">
                  <a:lumMod val="60000"/>
                  <a:lumOff val="40000"/>
                </a:schemeClr>
              </a:solidFill>
              <a:ln w="19050">
                <a:noFill/>
              </a:ln>
              <a:effectLst/>
            </c:spPr>
            <c:extLst>
              <c:ext xmlns:c16="http://schemas.microsoft.com/office/drawing/2014/chart" uri="{C3380CC4-5D6E-409C-BE32-E72D297353CC}">
                <c16:uniqueId val="{00000001-0828-48F6-8571-FAD8387BF797}"/>
              </c:ext>
            </c:extLst>
          </c:dPt>
          <c:dPt>
            <c:idx val="1"/>
            <c:bubble3D val="0"/>
            <c:spPr>
              <a:solidFill>
                <a:srgbClr val="FEAF18"/>
              </a:solidFill>
              <a:ln w="19050">
                <a:noFill/>
              </a:ln>
              <a:effectLst/>
            </c:spPr>
            <c:extLst>
              <c:ext xmlns:c16="http://schemas.microsoft.com/office/drawing/2014/chart" uri="{C3380CC4-5D6E-409C-BE32-E72D297353CC}">
                <c16:uniqueId val="{00000003-0828-48F6-8571-FAD8387BF797}"/>
              </c:ext>
            </c:extLst>
          </c:dPt>
          <c:dPt>
            <c:idx val="2"/>
            <c:bubble3D val="0"/>
            <c:spPr>
              <a:solidFill>
                <a:srgbClr val="00B0F0"/>
              </a:solidFill>
              <a:ln w="19050">
                <a:noFill/>
              </a:ln>
              <a:effectLst/>
            </c:spPr>
            <c:extLst>
              <c:ext xmlns:c16="http://schemas.microsoft.com/office/drawing/2014/chart" uri="{C3380CC4-5D6E-409C-BE32-E72D297353CC}">
                <c16:uniqueId val="{00000005-0828-48F6-8571-FAD8387BF797}"/>
              </c:ext>
            </c:extLst>
          </c:dPt>
          <c:dPt>
            <c:idx val="3"/>
            <c:bubble3D val="0"/>
            <c:spPr>
              <a:solidFill>
                <a:schemeClr val="accent6">
                  <a:lumMod val="20000"/>
                  <a:lumOff val="80000"/>
                </a:schemeClr>
              </a:solidFill>
              <a:ln w="19050">
                <a:noFill/>
              </a:ln>
              <a:effectLst/>
            </c:spPr>
            <c:extLst>
              <c:ext xmlns:c16="http://schemas.microsoft.com/office/drawing/2014/chart" uri="{C3380CC4-5D6E-409C-BE32-E72D297353CC}">
                <c16:uniqueId val="{00000007-0828-48F6-8571-FAD8387BF797}"/>
              </c:ext>
            </c:extLst>
          </c:dPt>
          <c:dPt>
            <c:idx val="4"/>
            <c:bubble3D val="0"/>
            <c:spPr>
              <a:solidFill>
                <a:schemeClr val="accent6">
                  <a:lumMod val="40000"/>
                  <a:lumOff val="60000"/>
                </a:schemeClr>
              </a:solidFill>
              <a:ln w="19050">
                <a:noFill/>
              </a:ln>
              <a:effectLst/>
            </c:spPr>
            <c:extLst>
              <c:ext xmlns:c16="http://schemas.microsoft.com/office/drawing/2014/chart" uri="{C3380CC4-5D6E-409C-BE32-E72D297353CC}">
                <c16:uniqueId val="{00000009-0828-48F6-8571-FAD8387BF797}"/>
              </c:ext>
            </c:extLst>
          </c:dPt>
          <c:dLbls>
            <c:dLbl>
              <c:idx val="1"/>
              <c:spPr>
                <a:solidFill>
                  <a:schemeClr val="tx1"/>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rgbClr val="FEAF18"/>
                      </a:solidFill>
                      <a:latin typeface="+mn-lt"/>
                      <a:ea typeface="+mn-ea"/>
                      <a:cs typeface="+mn-cs"/>
                    </a:defRPr>
                  </a:pPr>
                  <a:endParaRPr lang="es-ES"/>
                </a:p>
              </c:txPr>
              <c:dLblPos val="bestFit"/>
              <c:showLegendKey val="1"/>
              <c:showVal val="1"/>
              <c:showCatName val="0"/>
              <c:showSerName val="0"/>
              <c:showPercent val="1"/>
              <c:showBubbleSize val="0"/>
              <c:extLst>
                <c:ext xmlns:c15="http://schemas.microsoft.com/office/drawing/2012/chart" uri="{CE6537A1-D6FC-4f65-9D91-7224C49458BB}">
                  <c15:layout>
                    <c:manualLayout>
                      <c:w val="0.16394993783102724"/>
                      <c:h val="0.11615817420875885"/>
                    </c:manualLayout>
                  </c15:layout>
                </c:ext>
                <c:ext xmlns:c16="http://schemas.microsoft.com/office/drawing/2014/chart" uri="{C3380CC4-5D6E-409C-BE32-E72D297353CC}">
                  <c16:uniqueId val="{00000003-0828-48F6-8571-FAD8387BF797}"/>
                </c:ext>
              </c:extLst>
            </c:dLbl>
            <c:dLbl>
              <c:idx val="2"/>
              <c:layout>
                <c:manualLayout>
                  <c:x val="7.2183792080423434E-3"/>
                  <c:y val="-0.190719342622584"/>
                </c:manualLayout>
              </c:layout>
              <c:spPr>
                <a:solidFill>
                  <a:schemeClr val="tx1"/>
                </a:solid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rgbClr val="FFC000"/>
                      </a:solidFill>
                      <a:latin typeface="+mn-lt"/>
                      <a:ea typeface="+mn-ea"/>
                      <a:cs typeface="+mn-cs"/>
                    </a:defRPr>
                  </a:pPr>
                  <a:endParaRPr lang="es-ES"/>
                </a:p>
              </c:txPr>
              <c:dLblPos val="bestFit"/>
              <c:showLegendKey val="1"/>
              <c:showVal val="1"/>
              <c:showCatName val="0"/>
              <c:showSerName val="0"/>
              <c:showPercent val="1"/>
              <c:showBubbleSize val="0"/>
              <c:extLst>
                <c:ext xmlns:c15="http://schemas.microsoft.com/office/drawing/2012/chart" uri="{CE6537A1-D6FC-4f65-9D91-7224C49458BB}">
                  <c15:layout>
                    <c:manualLayout>
                      <c:w val="0.22812280377756128"/>
                      <c:h val="7.2936527991546249E-2"/>
                    </c:manualLayout>
                  </c15:layout>
                </c:ext>
                <c:ext xmlns:c16="http://schemas.microsoft.com/office/drawing/2014/chart" uri="{C3380CC4-5D6E-409C-BE32-E72D297353CC}">
                  <c16:uniqueId val="{00000005-0828-48F6-8571-FAD8387BF797}"/>
                </c:ext>
              </c:extLst>
            </c:dLbl>
            <c:spPr>
              <a:solidFill>
                <a:schemeClr val="tx1"/>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rgbClr val="FFC000"/>
                    </a:solidFill>
                    <a:latin typeface="+mn-lt"/>
                    <a:ea typeface="+mn-ea"/>
                    <a:cs typeface="+mn-cs"/>
                  </a:defRPr>
                </a:pPr>
                <a:endParaRPr lang="es-ES"/>
              </a:p>
            </c:txPr>
            <c:dLblPos val="bestFit"/>
            <c:showLegendKey val="1"/>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'Suma de MontoNeto por CanalVent'!$C$2:$C$6</c:f>
              <c:strCache>
                <c:ptCount val="5"/>
                <c:pt idx="0">
                  <c:v>Corporativo</c:v>
                </c:pt>
                <c:pt idx="1">
                  <c:v>Directo</c:v>
                </c:pt>
                <c:pt idx="2">
                  <c:v>Mayorista</c:v>
                </c:pt>
                <c:pt idx="3">
                  <c:v>Minorista</c:v>
                </c:pt>
                <c:pt idx="4">
                  <c:v>Online</c:v>
                </c:pt>
              </c:strCache>
            </c:strRef>
          </c:cat>
          <c:val>
            <c:numRef>
              <c:f>'Suma de MontoNeto por CanalVent'!$D$2:$D$6</c:f>
              <c:numCache>
                <c:formatCode>General</c:formatCode>
                <c:ptCount val="5"/>
                <c:pt idx="0">
                  <c:v>202162</c:v>
                </c:pt>
                <c:pt idx="1">
                  <c:v>251094</c:v>
                </c:pt>
                <c:pt idx="2">
                  <c:v>1250539</c:v>
                </c:pt>
                <c:pt idx="3">
                  <c:v>67102</c:v>
                </c:pt>
                <c:pt idx="4">
                  <c:v>172940</c:v>
                </c:pt>
              </c:numCache>
            </c:numRef>
          </c:val>
          <c:extLst>
            <c:ext xmlns:c16="http://schemas.microsoft.com/office/drawing/2014/chart" uri="{C3380CC4-5D6E-409C-BE32-E72D297353CC}">
              <c16:uniqueId val="{0000000A-0828-48F6-8571-FAD8387BF797}"/>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FFC08-A5D7-420B-A2D8-8811985563E7}" type="datetimeFigureOut">
              <a:rPr lang="es-ES" smtClean="0"/>
              <a:t>22/06/2026</a:t>
            </a:fld>
            <a:endParaRPr lang="es-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074A98-9275-4D3A-95EF-51CAF19C9571}" type="slidenum">
              <a:rPr lang="es-ES" smtClean="0"/>
              <a:t>‹#›</a:t>
            </a:fld>
            <a:endParaRPr lang="es-ES"/>
          </a:p>
        </p:txBody>
      </p:sp>
    </p:spTree>
    <p:extLst>
      <p:ext uri="{BB962C8B-B14F-4D97-AF65-F5344CB8AC3E}">
        <p14:creationId xmlns:p14="http://schemas.microsoft.com/office/powerpoint/2010/main" val="4203432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5D074A98-9275-4D3A-95EF-51CAF19C9571}" type="slidenum">
              <a:rPr lang="es-ES" smtClean="0"/>
              <a:t>4</a:t>
            </a:fld>
            <a:endParaRPr lang="es-ES"/>
          </a:p>
        </p:txBody>
      </p:sp>
    </p:spTree>
    <p:extLst>
      <p:ext uri="{BB962C8B-B14F-4D97-AF65-F5344CB8AC3E}">
        <p14:creationId xmlns:p14="http://schemas.microsoft.com/office/powerpoint/2010/main" val="2481379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205C4-DEE2-DA6E-D0FE-BE60CE4309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BF8ACAB3-D1EA-E5DB-9512-0E44558291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id="{5C031C04-6862-8103-4545-5236EDDA1AA8}"/>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5" name="Footer Placeholder 4">
            <a:extLst>
              <a:ext uri="{FF2B5EF4-FFF2-40B4-BE49-F238E27FC236}">
                <a16:creationId xmlns:a16="http://schemas.microsoft.com/office/drawing/2014/main" id="{3A9A511F-ABAB-0C2A-F416-F96F54EC06C8}"/>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33743737-8471-FCDD-5692-EA3510C3ACC4}"/>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3608989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DC58C-BA82-7AC8-1F39-35E1C9803D13}"/>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F0B58D1B-EA70-524A-F506-34A6056356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EA0041EE-0711-18A0-B5F3-961D56C38B2F}"/>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5" name="Footer Placeholder 4">
            <a:extLst>
              <a:ext uri="{FF2B5EF4-FFF2-40B4-BE49-F238E27FC236}">
                <a16:creationId xmlns:a16="http://schemas.microsoft.com/office/drawing/2014/main" id="{BB32F1CA-D82E-A27C-DDD1-D689D2E3619B}"/>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147FE551-6413-895E-B4BD-DAB13151FCA2}"/>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3936677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5CBC6-51DC-AB22-7A8F-6331CAADF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a:extLst>
              <a:ext uri="{FF2B5EF4-FFF2-40B4-BE49-F238E27FC236}">
                <a16:creationId xmlns:a16="http://schemas.microsoft.com/office/drawing/2014/main" id="{DE64AFF4-9B46-BFA2-FF70-513EA61BE5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29F777-5F1F-31F3-81A2-C6959FA6C702}"/>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5" name="Footer Placeholder 4">
            <a:extLst>
              <a:ext uri="{FF2B5EF4-FFF2-40B4-BE49-F238E27FC236}">
                <a16:creationId xmlns:a16="http://schemas.microsoft.com/office/drawing/2014/main" id="{FC9B664A-B536-700F-12CF-27595353F867}"/>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62E2E197-9B0B-767B-AA63-A1BD4831715B}"/>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550852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6C83F-3284-BFB3-CE02-7B95A26FDE11}"/>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251D3805-59DE-F895-ECAE-BFB4D1899F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a:extLst>
              <a:ext uri="{FF2B5EF4-FFF2-40B4-BE49-F238E27FC236}">
                <a16:creationId xmlns:a16="http://schemas.microsoft.com/office/drawing/2014/main" id="{811678A9-2848-8540-C825-326826BB00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Date Placeholder 4">
            <a:extLst>
              <a:ext uri="{FF2B5EF4-FFF2-40B4-BE49-F238E27FC236}">
                <a16:creationId xmlns:a16="http://schemas.microsoft.com/office/drawing/2014/main" id="{47E0A0B6-06A5-FA94-84B8-C3B418072C69}"/>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6" name="Footer Placeholder 5">
            <a:extLst>
              <a:ext uri="{FF2B5EF4-FFF2-40B4-BE49-F238E27FC236}">
                <a16:creationId xmlns:a16="http://schemas.microsoft.com/office/drawing/2014/main" id="{88E6EC08-8B83-5974-3EAD-22081B066408}"/>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BE8CFD1A-AC1E-BB71-0B37-6CC43212C9C3}"/>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1415362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B5BC7-B329-084A-22F1-C3AC75CF2F2E}"/>
              </a:ext>
            </a:extLst>
          </p:cNvPr>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a:extLst>
              <a:ext uri="{FF2B5EF4-FFF2-40B4-BE49-F238E27FC236}">
                <a16:creationId xmlns:a16="http://schemas.microsoft.com/office/drawing/2014/main" id="{E72A0E14-758F-3221-5756-494BAABE73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B6E0FE-8D43-F88F-F36C-E15EE43802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a:extLst>
              <a:ext uri="{FF2B5EF4-FFF2-40B4-BE49-F238E27FC236}">
                <a16:creationId xmlns:a16="http://schemas.microsoft.com/office/drawing/2014/main" id="{B63BE012-4F38-9082-D289-EFF0B71730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2FC10E-7BF6-A451-09A7-BE629A108D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7" name="Date Placeholder 6">
            <a:extLst>
              <a:ext uri="{FF2B5EF4-FFF2-40B4-BE49-F238E27FC236}">
                <a16:creationId xmlns:a16="http://schemas.microsoft.com/office/drawing/2014/main" id="{C5A4E75C-A1F0-BDAD-7345-3CB7AD87E210}"/>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8" name="Footer Placeholder 7">
            <a:extLst>
              <a:ext uri="{FF2B5EF4-FFF2-40B4-BE49-F238E27FC236}">
                <a16:creationId xmlns:a16="http://schemas.microsoft.com/office/drawing/2014/main" id="{A7B8D49B-B448-B3E1-6698-E9A6B5BD6CD4}"/>
              </a:ext>
            </a:extLst>
          </p:cNvPr>
          <p:cNvSpPr>
            <a:spLocks noGrp="1"/>
          </p:cNvSpPr>
          <p:nvPr>
            <p:ph type="ftr" sz="quarter" idx="11"/>
          </p:nvPr>
        </p:nvSpPr>
        <p:spPr/>
        <p:txBody>
          <a:bodyPr/>
          <a:lstStyle/>
          <a:p>
            <a:endParaRPr lang="es-ES"/>
          </a:p>
        </p:txBody>
      </p:sp>
      <p:sp>
        <p:nvSpPr>
          <p:cNvPr id="9" name="Slide Number Placeholder 8">
            <a:extLst>
              <a:ext uri="{FF2B5EF4-FFF2-40B4-BE49-F238E27FC236}">
                <a16:creationId xmlns:a16="http://schemas.microsoft.com/office/drawing/2014/main" id="{D1335377-6205-379B-DBCA-4147EB8AE74F}"/>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1054272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880B9-9575-6E41-4A6B-4D9911CEDD12}"/>
              </a:ext>
            </a:extLst>
          </p:cNvPr>
          <p:cNvSpPr>
            <a:spLocks noGrp="1"/>
          </p:cNvSpPr>
          <p:nvPr>
            <p:ph type="title"/>
          </p:nvPr>
        </p:nvSpPr>
        <p:spPr/>
        <p:txBody>
          <a:bodyPr/>
          <a:lstStyle/>
          <a:p>
            <a:r>
              <a:rPr lang="en-US"/>
              <a:t>Click to edit Master title style</a:t>
            </a:r>
            <a:endParaRPr lang="es-ES"/>
          </a:p>
        </p:txBody>
      </p:sp>
      <p:sp>
        <p:nvSpPr>
          <p:cNvPr id="3" name="Date Placeholder 2">
            <a:extLst>
              <a:ext uri="{FF2B5EF4-FFF2-40B4-BE49-F238E27FC236}">
                <a16:creationId xmlns:a16="http://schemas.microsoft.com/office/drawing/2014/main" id="{80DF5289-25FE-F90F-A836-29E6BC24465B}"/>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4" name="Footer Placeholder 3">
            <a:extLst>
              <a:ext uri="{FF2B5EF4-FFF2-40B4-BE49-F238E27FC236}">
                <a16:creationId xmlns:a16="http://schemas.microsoft.com/office/drawing/2014/main" id="{E5D36494-886F-8F77-1906-A91E42CE4667}"/>
              </a:ext>
            </a:extLst>
          </p:cNvPr>
          <p:cNvSpPr>
            <a:spLocks noGrp="1"/>
          </p:cNvSpPr>
          <p:nvPr>
            <p:ph type="ftr" sz="quarter" idx="11"/>
          </p:nvPr>
        </p:nvSpPr>
        <p:spPr/>
        <p:txBody>
          <a:bodyPr/>
          <a:lstStyle/>
          <a:p>
            <a:endParaRPr lang="es-ES"/>
          </a:p>
        </p:txBody>
      </p:sp>
      <p:sp>
        <p:nvSpPr>
          <p:cNvPr id="5" name="Slide Number Placeholder 4">
            <a:extLst>
              <a:ext uri="{FF2B5EF4-FFF2-40B4-BE49-F238E27FC236}">
                <a16:creationId xmlns:a16="http://schemas.microsoft.com/office/drawing/2014/main" id="{B8E7B09F-1645-11D9-B4E3-3CBB4F6B17A3}"/>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4000704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5D071C-7F2A-7470-DDE8-311659040CD3}"/>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3" name="Footer Placeholder 2">
            <a:extLst>
              <a:ext uri="{FF2B5EF4-FFF2-40B4-BE49-F238E27FC236}">
                <a16:creationId xmlns:a16="http://schemas.microsoft.com/office/drawing/2014/main" id="{8BB8FE38-7723-55F7-0AF2-1D5A2CF61D8A}"/>
              </a:ext>
            </a:extLst>
          </p:cNvPr>
          <p:cNvSpPr>
            <a:spLocks noGrp="1"/>
          </p:cNvSpPr>
          <p:nvPr>
            <p:ph type="ftr" sz="quarter" idx="11"/>
          </p:nvPr>
        </p:nvSpPr>
        <p:spPr/>
        <p:txBody>
          <a:bodyPr/>
          <a:lstStyle/>
          <a:p>
            <a:endParaRPr lang="es-ES"/>
          </a:p>
        </p:txBody>
      </p:sp>
      <p:sp>
        <p:nvSpPr>
          <p:cNvPr id="4" name="Slide Number Placeholder 3">
            <a:extLst>
              <a:ext uri="{FF2B5EF4-FFF2-40B4-BE49-F238E27FC236}">
                <a16:creationId xmlns:a16="http://schemas.microsoft.com/office/drawing/2014/main" id="{DAA5650A-BF31-9312-26B9-0BB6FA262E20}"/>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1344227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19FB7-3B73-C36A-D285-7E6426E0F2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a:extLst>
              <a:ext uri="{FF2B5EF4-FFF2-40B4-BE49-F238E27FC236}">
                <a16:creationId xmlns:a16="http://schemas.microsoft.com/office/drawing/2014/main" id="{AF893C1D-4AF3-A371-B007-923B62E304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a:extLst>
              <a:ext uri="{FF2B5EF4-FFF2-40B4-BE49-F238E27FC236}">
                <a16:creationId xmlns:a16="http://schemas.microsoft.com/office/drawing/2014/main" id="{57232F31-8C76-DEFC-50F6-C3F926ECE9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B938AC-C557-5E2F-EF19-F8854632619A}"/>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6" name="Footer Placeholder 5">
            <a:extLst>
              <a:ext uri="{FF2B5EF4-FFF2-40B4-BE49-F238E27FC236}">
                <a16:creationId xmlns:a16="http://schemas.microsoft.com/office/drawing/2014/main" id="{AB5EB1F2-E6C5-631F-8D69-581AC1553C59}"/>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0423D138-2EDC-F5D9-86BD-B6900454F8FE}"/>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3536618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2966B-BC8C-6F64-E051-E289920A66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a:extLst>
              <a:ext uri="{FF2B5EF4-FFF2-40B4-BE49-F238E27FC236}">
                <a16:creationId xmlns:a16="http://schemas.microsoft.com/office/drawing/2014/main" id="{C66DCDE2-6124-BDCE-E686-D9B7926669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a:extLst>
              <a:ext uri="{FF2B5EF4-FFF2-40B4-BE49-F238E27FC236}">
                <a16:creationId xmlns:a16="http://schemas.microsoft.com/office/drawing/2014/main" id="{FE0B6DAD-3ECC-B1EC-CD63-75659726D6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15681F-3261-9CF5-CA9C-EEDEE21BABFB}"/>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6" name="Footer Placeholder 5">
            <a:extLst>
              <a:ext uri="{FF2B5EF4-FFF2-40B4-BE49-F238E27FC236}">
                <a16:creationId xmlns:a16="http://schemas.microsoft.com/office/drawing/2014/main" id="{637CE9DD-BAF6-9995-57CC-10B68917BF11}"/>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FE99B571-BDAD-BB96-DD17-FE0B246990F8}"/>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2466910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A962-45BF-88EE-06DC-5FAF3D462788}"/>
              </a:ext>
            </a:extLst>
          </p:cNvPr>
          <p:cNvSpPr>
            <a:spLocks noGrp="1"/>
          </p:cNvSpPr>
          <p:nvPr>
            <p:ph type="title"/>
          </p:nvPr>
        </p:nvSpPr>
        <p:spPr/>
        <p:txBody>
          <a:bodyPr/>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B1248357-9E45-55D8-5522-804B46F963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4060883B-97C5-24A9-7B58-BDF3557EA26B}"/>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5" name="Footer Placeholder 4">
            <a:extLst>
              <a:ext uri="{FF2B5EF4-FFF2-40B4-BE49-F238E27FC236}">
                <a16:creationId xmlns:a16="http://schemas.microsoft.com/office/drawing/2014/main" id="{6036A674-6969-14CD-BE26-E9A8D795D4EA}"/>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01598151-3129-A4FB-BDA1-33AF13002520}"/>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2427500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7A1AB5-403F-2E25-A246-482AF60E3A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A8F394D2-4B89-8C30-9BD0-D7A0CF2432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F8D42192-13E1-DA27-1657-A6F2ABE9579B}"/>
              </a:ext>
            </a:extLst>
          </p:cNvPr>
          <p:cNvSpPr>
            <a:spLocks noGrp="1"/>
          </p:cNvSpPr>
          <p:nvPr>
            <p:ph type="dt" sz="half" idx="10"/>
          </p:nvPr>
        </p:nvSpPr>
        <p:spPr/>
        <p:txBody>
          <a:bodyPr/>
          <a:lstStyle/>
          <a:p>
            <a:fld id="{00799059-0A3C-44ED-8E44-4E7BA5D946B2}" type="datetimeFigureOut">
              <a:rPr lang="es-ES" smtClean="0"/>
              <a:t>22/06/2026</a:t>
            </a:fld>
            <a:endParaRPr lang="es-ES"/>
          </a:p>
        </p:txBody>
      </p:sp>
      <p:sp>
        <p:nvSpPr>
          <p:cNvPr id="5" name="Footer Placeholder 4">
            <a:extLst>
              <a:ext uri="{FF2B5EF4-FFF2-40B4-BE49-F238E27FC236}">
                <a16:creationId xmlns:a16="http://schemas.microsoft.com/office/drawing/2014/main" id="{BE6964B1-FCBA-66F4-CF80-B8B6D84D5BAA}"/>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9A6736D0-60B1-4B2D-591A-6F211807C6E2}"/>
              </a:ext>
            </a:extLst>
          </p:cNvPr>
          <p:cNvSpPr>
            <a:spLocks noGrp="1"/>
          </p:cNvSpPr>
          <p:nvPr>
            <p:ph type="sldNum" sz="quarter" idx="12"/>
          </p:nvPr>
        </p:nvSpPr>
        <p:spPr/>
        <p:txBody>
          <a:bodyPr/>
          <a:lstStyle/>
          <a:p>
            <a:fld id="{819C5B71-DCA1-4D4F-A02B-80BA5060FE37}" type="slidenum">
              <a:rPr lang="es-ES" smtClean="0"/>
              <a:t>‹#›</a:t>
            </a:fld>
            <a:endParaRPr lang="es-ES"/>
          </a:p>
        </p:txBody>
      </p:sp>
    </p:spTree>
    <p:extLst>
      <p:ext uri="{BB962C8B-B14F-4D97-AF65-F5344CB8AC3E}">
        <p14:creationId xmlns:p14="http://schemas.microsoft.com/office/powerpoint/2010/main" val="900539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89BB9B-1C16-77EF-FEE8-9EBC3F0824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a:extLst>
              <a:ext uri="{FF2B5EF4-FFF2-40B4-BE49-F238E27FC236}">
                <a16:creationId xmlns:a16="http://schemas.microsoft.com/office/drawing/2014/main" id="{E06C34F2-C2F7-17DC-C50F-1391D24E2B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71892A0F-FEBB-FE52-F1B1-4B229B680B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799059-0A3C-44ED-8E44-4E7BA5D946B2}" type="datetimeFigureOut">
              <a:rPr lang="es-ES" smtClean="0"/>
              <a:t>22/06/2026</a:t>
            </a:fld>
            <a:endParaRPr lang="es-ES"/>
          </a:p>
        </p:txBody>
      </p:sp>
      <p:sp>
        <p:nvSpPr>
          <p:cNvPr id="5" name="Footer Placeholder 4">
            <a:extLst>
              <a:ext uri="{FF2B5EF4-FFF2-40B4-BE49-F238E27FC236}">
                <a16:creationId xmlns:a16="http://schemas.microsoft.com/office/drawing/2014/main" id="{F4CA4572-79EE-4A52-72E2-C22B5559C9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a:extLst>
              <a:ext uri="{FF2B5EF4-FFF2-40B4-BE49-F238E27FC236}">
                <a16:creationId xmlns:a16="http://schemas.microsoft.com/office/drawing/2014/main" id="{01ED7E0E-6E53-EC65-269C-6F33AF3CE2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9C5B71-DCA1-4D4F-A02B-80BA5060FE37}" type="slidenum">
              <a:rPr lang="es-ES" smtClean="0"/>
              <a:t>‹#›</a:t>
            </a:fld>
            <a:endParaRPr lang="es-ES"/>
          </a:p>
        </p:txBody>
      </p:sp>
    </p:spTree>
    <p:extLst>
      <p:ext uri="{BB962C8B-B14F-4D97-AF65-F5344CB8AC3E}">
        <p14:creationId xmlns:p14="http://schemas.microsoft.com/office/powerpoint/2010/main" val="3581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746AF83F-E2D1-25F8-54FE-AEDD3D39748C}"/>
              </a:ext>
            </a:extLst>
          </p:cNvPr>
          <p:cNvPicPr>
            <a:picLocks noChangeAspect="1"/>
          </p:cNvPicPr>
          <p:nvPr/>
        </p:nvPicPr>
        <p:blipFill rotWithShape="1">
          <a:blip r:embed="rId2">
            <a:extLst>
              <a:ext uri="{28A0092B-C50C-407E-A947-70E740481C1C}">
                <a14:useLocalDpi xmlns:a14="http://schemas.microsoft.com/office/drawing/2010/main" val="0"/>
              </a:ext>
            </a:extLst>
          </a:blip>
          <a:srcRect l="52724"/>
          <a:stretch/>
        </p:blipFill>
        <p:spPr>
          <a:xfrm>
            <a:off x="6428096" y="-644857"/>
            <a:ext cx="5763904" cy="8147714"/>
          </a:xfrm>
          <a:prstGeom prst="rect">
            <a:avLst/>
          </a:prstGeom>
        </p:spPr>
      </p:pic>
      <p:sp>
        <p:nvSpPr>
          <p:cNvPr id="27" name="TextBox 26">
            <a:extLst>
              <a:ext uri="{FF2B5EF4-FFF2-40B4-BE49-F238E27FC236}">
                <a16:creationId xmlns:a16="http://schemas.microsoft.com/office/drawing/2014/main" id="{25820CD4-AABA-C02F-2F12-C53E15BD74A2}"/>
              </a:ext>
            </a:extLst>
          </p:cNvPr>
          <p:cNvSpPr txBox="1"/>
          <p:nvPr/>
        </p:nvSpPr>
        <p:spPr>
          <a:xfrm>
            <a:off x="2606718" y="588746"/>
            <a:ext cx="3906906" cy="1323439"/>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8000" b="1" dirty="0">
                <a:latin typeface="Bahnschrift Condensed" panose="020B0502040204020203" pitchFamily="34" charset="0"/>
              </a:rPr>
              <a:t>MAYORISTA</a:t>
            </a:r>
          </a:p>
        </p:txBody>
      </p:sp>
      <p:pic>
        <p:nvPicPr>
          <p:cNvPr id="26" name="Picture 25">
            <a:extLst>
              <a:ext uri="{FF2B5EF4-FFF2-40B4-BE49-F238E27FC236}">
                <a16:creationId xmlns:a16="http://schemas.microsoft.com/office/drawing/2014/main" id="{47A14016-F096-F8DC-35AD-D99F2882F2B1}"/>
              </a:ext>
            </a:extLst>
          </p:cNvPr>
          <p:cNvPicPr>
            <a:picLocks noChangeAspect="1"/>
          </p:cNvPicPr>
          <p:nvPr/>
        </p:nvPicPr>
        <p:blipFill rotWithShape="1">
          <a:blip r:embed="rId2">
            <a:extLst>
              <a:ext uri="{28A0092B-C50C-407E-A947-70E740481C1C}">
                <a14:useLocalDpi xmlns:a14="http://schemas.microsoft.com/office/drawing/2010/main" val="0"/>
              </a:ext>
            </a:extLst>
          </a:blip>
          <a:srcRect r="47276"/>
          <a:stretch/>
        </p:blipFill>
        <p:spPr>
          <a:xfrm>
            <a:off x="0" y="-644857"/>
            <a:ext cx="6428096" cy="8147714"/>
          </a:xfrm>
          <a:prstGeom prst="rect">
            <a:avLst/>
          </a:prstGeom>
        </p:spPr>
      </p:pic>
      <p:sp>
        <p:nvSpPr>
          <p:cNvPr id="16" name="TextBox 15">
            <a:extLst>
              <a:ext uri="{FF2B5EF4-FFF2-40B4-BE49-F238E27FC236}">
                <a16:creationId xmlns:a16="http://schemas.microsoft.com/office/drawing/2014/main" id="{489644EA-A116-7D71-C829-8DF3D15B2A7D}"/>
              </a:ext>
            </a:extLst>
          </p:cNvPr>
          <p:cNvSpPr txBox="1"/>
          <p:nvPr/>
        </p:nvSpPr>
        <p:spPr>
          <a:xfrm>
            <a:off x="-1349835" y="6103923"/>
            <a:ext cx="1323975" cy="338554"/>
          </a:xfrm>
          <a:prstGeom prst="rect">
            <a:avLst/>
          </a:prstGeom>
          <a:noFill/>
        </p:spPr>
        <p:txBody>
          <a:bodyPr wrap="square">
            <a:spAutoFit/>
          </a:bodyPr>
          <a:lstStyle>
            <a:defPPr>
              <a:defRPr lang="es-ES"/>
            </a:defPPr>
            <a:lvl1pPr algn="ctr">
              <a:defRPr sz="1600" b="1">
                <a:solidFill>
                  <a:schemeClr val="bg1"/>
                </a:solidFill>
                <a:latin typeface="+mj-lt"/>
              </a:defRPr>
            </a:lvl1pPr>
          </a:lstStyle>
          <a:p>
            <a:r>
              <a:rPr lang="en-US" dirty="0"/>
              <a:t>Qu</a:t>
            </a:r>
            <a:r>
              <a:rPr lang="es-ES" dirty="0"/>
              <a:t>é</a:t>
            </a:r>
            <a:r>
              <a:rPr lang="en-US" dirty="0"/>
              <a:t> </a:t>
            </a:r>
            <a:r>
              <a:rPr lang="en-US" dirty="0" err="1"/>
              <a:t>haremos</a:t>
            </a:r>
            <a:endParaRPr lang="es-ES" dirty="0"/>
          </a:p>
        </p:txBody>
      </p:sp>
      <p:sp>
        <p:nvSpPr>
          <p:cNvPr id="7" name="TextBox 6">
            <a:extLst>
              <a:ext uri="{FF2B5EF4-FFF2-40B4-BE49-F238E27FC236}">
                <a16:creationId xmlns:a16="http://schemas.microsoft.com/office/drawing/2014/main" id="{57511EED-E61C-C7AC-3CF9-08FE858FCCB6}"/>
              </a:ext>
            </a:extLst>
          </p:cNvPr>
          <p:cNvSpPr txBox="1"/>
          <p:nvPr/>
        </p:nvSpPr>
        <p:spPr>
          <a:xfrm>
            <a:off x="12221386" y="5501648"/>
            <a:ext cx="3135087" cy="954107"/>
          </a:xfrm>
          <a:prstGeom prst="rect">
            <a:avLst/>
          </a:prstGeom>
          <a:noFill/>
        </p:spPr>
        <p:txBody>
          <a:bodyPr wrap="square">
            <a:spAutoFit/>
          </a:bodyPr>
          <a:lstStyle>
            <a:defPPr>
              <a:defRPr lang="es-ES"/>
            </a:defPPr>
            <a:lvl1pPr>
              <a:defRPr sz="2800" b="1">
                <a:solidFill>
                  <a:schemeClr val="bg1"/>
                </a:solidFill>
                <a:effectLst/>
                <a:latin typeface="Bahnschrift Condensed" panose="020B0502040204020203" pitchFamily="34" charset="0"/>
                <a:ea typeface="menlo"/>
                <a:cs typeface="menlo"/>
              </a:defRPr>
            </a:lvl1pPr>
          </a:lstStyle>
          <a:p>
            <a:r>
              <a:rPr lang="es-ES" dirty="0">
                <a:solidFill>
                  <a:srgbClr val="FE8749"/>
                </a:solidFill>
              </a:rPr>
              <a:t>Análisis de Ventas y Distribución</a:t>
            </a:r>
          </a:p>
        </p:txBody>
      </p:sp>
      <p:sp>
        <p:nvSpPr>
          <p:cNvPr id="15" name="TextBox 14">
            <a:extLst>
              <a:ext uri="{FF2B5EF4-FFF2-40B4-BE49-F238E27FC236}">
                <a16:creationId xmlns:a16="http://schemas.microsoft.com/office/drawing/2014/main" id="{DE8D4153-D8BA-A2BD-B69C-70922D85595C}"/>
              </a:ext>
            </a:extLst>
          </p:cNvPr>
          <p:cNvSpPr txBox="1"/>
          <p:nvPr/>
        </p:nvSpPr>
        <p:spPr>
          <a:xfrm>
            <a:off x="12183286" y="5260090"/>
            <a:ext cx="806710" cy="338554"/>
          </a:xfrm>
          <a:prstGeom prst="rect">
            <a:avLst/>
          </a:prstGeom>
          <a:noFill/>
        </p:spPr>
        <p:txBody>
          <a:bodyPr wrap="square">
            <a:spAutoFit/>
          </a:bodyPr>
          <a:lstStyle/>
          <a:p>
            <a:pPr algn="ctr"/>
            <a:r>
              <a:rPr lang="en-US" sz="1600" b="1" dirty="0">
                <a:solidFill>
                  <a:schemeClr val="bg1"/>
                </a:solidFill>
                <a:latin typeface="+mj-lt"/>
              </a:rPr>
              <a:t>A</a:t>
            </a:r>
            <a:r>
              <a:rPr lang="es-ES" sz="1600" b="1" dirty="0" err="1">
                <a:solidFill>
                  <a:schemeClr val="bg1"/>
                </a:solidFill>
                <a:latin typeface="+mj-lt"/>
              </a:rPr>
              <a:t>sunto</a:t>
            </a:r>
            <a:endParaRPr lang="es-ES" sz="1600" dirty="0">
              <a:solidFill>
                <a:schemeClr val="bg1"/>
              </a:solidFill>
              <a:latin typeface="+mj-lt"/>
            </a:endParaRPr>
          </a:p>
        </p:txBody>
      </p:sp>
      <p:sp>
        <p:nvSpPr>
          <p:cNvPr id="11" name="TextBox 10">
            <a:extLst>
              <a:ext uri="{FF2B5EF4-FFF2-40B4-BE49-F238E27FC236}">
                <a16:creationId xmlns:a16="http://schemas.microsoft.com/office/drawing/2014/main" id="{1BD49088-3275-DCC7-39D2-97F526FAFF8C}"/>
              </a:ext>
            </a:extLst>
          </p:cNvPr>
          <p:cNvSpPr txBox="1"/>
          <p:nvPr/>
        </p:nvSpPr>
        <p:spPr>
          <a:xfrm>
            <a:off x="-6284726" y="5192641"/>
            <a:ext cx="6273852" cy="954107"/>
          </a:xfrm>
          <a:prstGeom prst="rect">
            <a:avLst/>
          </a:prstGeom>
          <a:noFill/>
        </p:spPr>
        <p:txBody>
          <a:bodyPr wrap="square">
            <a:spAutoFit/>
          </a:bodyPr>
          <a:lstStyle>
            <a:defPPr>
              <a:defRPr lang="es-ES"/>
            </a:defPPr>
            <a:lvl1pPr>
              <a:defRPr sz="2800" b="1">
                <a:solidFill>
                  <a:srgbClr val="FE8749"/>
                </a:solidFill>
                <a:effectLst/>
                <a:latin typeface="Bahnschrift Condensed" panose="020B0502040204020203" pitchFamily="34" charset="0"/>
                <a:ea typeface="menlo"/>
                <a:cs typeface="menlo"/>
              </a:defRPr>
            </a:lvl1pPr>
          </a:lstStyle>
          <a:p>
            <a:pPr algn="r"/>
            <a:r>
              <a:rPr lang="es-ES" dirty="0"/>
              <a:t>Identificar patrones de concentración y eficiencia para apoyar decisiones de negocio</a:t>
            </a:r>
          </a:p>
        </p:txBody>
      </p:sp>
      <p:sp>
        <p:nvSpPr>
          <p:cNvPr id="20" name="TextBox 19">
            <a:extLst>
              <a:ext uri="{FF2B5EF4-FFF2-40B4-BE49-F238E27FC236}">
                <a16:creationId xmlns:a16="http://schemas.microsoft.com/office/drawing/2014/main" id="{7FA983AB-02C5-F29F-6D82-6EE5B30A0640}"/>
              </a:ext>
            </a:extLst>
          </p:cNvPr>
          <p:cNvSpPr txBox="1"/>
          <p:nvPr/>
        </p:nvSpPr>
        <p:spPr>
          <a:xfrm>
            <a:off x="201187" y="205040"/>
            <a:ext cx="11789626" cy="6447919"/>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pPr algn="ctr"/>
            <a:r>
              <a:rPr lang="en-US" sz="41300" b="1" dirty="0">
                <a:latin typeface="Bahnschrift Condensed" panose="020B0502040204020203" pitchFamily="34" charset="0"/>
              </a:rPr>
              <a:t>IBERIA</a:t>
            </a:r>
          </a:p>
        </p:txBody>
      </p:sp>
    </p:spTree>
    <p:extLst>
      <p:ext uri="{BB962C8B-B14F-4D97-AF65-F5344CB8AC3E}">
        <p14:creationId xmlns:p14="http://schemas.microsoft.com/office/powerpoint/2010/main" val="2544070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05A1DF-32AE-4DF9-B384-D3E7DB525F6C}"/>
              </a:ext>
            </a:extLst>
          </p:cNvPr>
          <p:cNvPicPr>
            <a:picLocks noChangeAspect="1"/>
          </p:cNvPicPr>
          <p:nvPr/>
        </p:nvPicPr>
        <p:blipFill rotWithShape="1">
          <a:blip r:embed="rId2">
            <a:extLst>
              <a:ext uri="{28A0092B-C50C-407E-A947-70E740481C1C}">
                <a14:useLocalDpi xmlns:a14="http://schemas.microsoft.com/office/drawing/2010/main" val="0"/>
              </a:ext>
            </a:extLst>
          </a:blip>
          <a:srcRect l="52724"/>
          <a:stretch/>
        </p:blipFill>
        <p:spPr>
          <a:xfrm>
            <a:off x="6428096" y="-644857"/>
            <a:ext cx="5763904" cy="8147714"/>
          </a:xfrm>
          <a:prstGeom prst="rect">
            <a:avLst/>
          </a:prstGeom>
        </p:spPr>
      </p:pic>
      <p:sp>
        <p:nvSpPr>
          <p:cNvPr id="12" name="TextBox 11">
            <a:extLst>
              <a:ext uri="{FF2B5EF4-FFF2-40B4-BE49-F238E27FC236}">
                <a16:creationId xmlns:a16="http://schemas.microsoft.com/office/drawing/2014/main" id="{19CFD460-903C-BFA7-BBFB-BC7FF6AA2C6E}"/>
              </a:ext>
            </a:extLst>
          </p:cNvPr>
          <p:cNvSpPr txBox="1"/>
          <p:nvPr/>
        </p:nvSpPr>
        <p:spPr>
          <a:xfrm>
            <a:off x="2053946" y="411397"/>
            <a:ext cx="4883120" cy="2554545"/>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8000" b="1" dirty="0">
                <a:latin typeface="Bahnschrift Condensed" panose="020B0502040204020203" pitchFamily="34" charset="0"/>
              </a:rPr>
              <a:t>KPIs CLAVE</a:t>
            </a:r>
          </a:p>
          <a:p>
            <a:r>
              <a:rPr lang="en-US" sz="8000" b="1" dirty="0">
                <a:latin typeface="Bahnschrift Condensed" panose="020B0502040204020203" pitchFamily="34" charset="0"/>
              </a:rPr>
              <a:t>DESTACADOS</a:t>
            </a:r>
            <a:endParaRPr lang="es-ES" sz="8000" b="1" dirty="0">
              <a:latin typeface="Bahnschrift Condensed" panose="020B0502040204020203" pitchFamily="34" charset="0"/>
            </a:endParaRPr>
          </a:p>
        </p:txBody>
      </p:sp>
      <p:sp>
        <p:nvSpPr>
          <p:cNvPr id="9" name="TextBox 8">
            <a:extLst>
              <a:ext uri="{FF2B5EF4-FFF2-40B4-BE49-F238E27FC236}">
                <a16:creationId xmlns:a16="http://schemas.microsoft.com/office/drawing/2014/main" id="{4D620DD3-49F8-EDA0-3238-5A2EFFBFDB04}"/>
              </a:ext>
            </a:extLst>
          </p:cNvPr>
          <p:cNvSpPr txBox="1"/>
          <p:nvPr/>
        </p:nvSpPr>
        <p:spPr>
          <a:xfrm>
            <a:off x="6428096" y="588746"/>
            <a:ext cx="3906906" cy="1323439"/>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8000" b="1" dirty="0">
                <a:latin typeface="Bahnschrift Condensed" panose="020B0502040204020203" pitchFamily="34" charset="0"/>
              </a:rPr>
              <a:t>MAYORISTA</a:t>
            </a:r>
          </a:p>
        </p:txBody>
      </p:sp>
      <p:pic>
        <p:nvPicPr>
          <p:cNvPr id="10" name="Picture 9">
            <a:extLst>
              <a:ext uri="{FF2B5EF4-FFF2-40B4-BE49-F238E27FC236}">
                <a16:creationId xmlns:a16="http://schemas.microsoft.com/office/drawing/2014/main" id="{95E8A1A9-8864-6EB9-4F25-493C0F4C9EC9}"/>
              </a:ext>
            </a:extLst>
          </p:cNvPr>
          <p:cNvPicPr>
            <a:picLocks noChangeAspect="1"/>
          </p:cNvPicPr>
          <p:nvPr/>
        </p:nvPicPr>
        <p:blipFill rotWithShape="1">
          <a:blip r:embed="rId2">
            <a:extLst>
              <a:ext uri="{28A0092B-C50C-407E-A947-70E740481C1C}">
                <a14:useLocalDpi xmlns:a14="http://schemas.microsoft.com/office/drawing/2010/main" val="0"/>
              </a:ext>
            </a:extLst>
          </a:blip>
          <a:srcRect r="47276"/>
          <a:stretch/>
        </p:blipFill>
        <p:spPr>
          <a:xfrm>
            <a:off x="0" y="-644857"/>
            <a:ext cx="6428096" cy="8147714"/>
          </a:xfrm>
          <a:prstGeom prst="rect">
            <a:avLst/>
          </a:prstGeom>
        </p:spPr>
      </p:pic>
      <p:sp>
        <p:nvSpPr>
          <p:cNvPr id="6" name="TextBox 5">
            <a:extLst>
              <a:ext uri="{FF2B5EF4-FFF2-40B4-BE49-F238E27FC236}">
                <a16:creationId xmlns:a16="http://schemas.microsoft.com/office/drawing/2014/main" id="{4EEA58BA-65A1-0310-E9FB-3DB2A5984A74}"/>
              </a:ext>
            </a:extLst>
          </p:cNvPr>
          <p:cNvSpPr txBox="1"/>
          <p:nvPr/>
        </p:nvSpPr>
        <p:spPr>
          <a:xfrm>
            <a:off x="4079664" y="1630638"/>
            <a:ext cx="4013621" cy="1323439"/>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8000" b="1" dirty="0">
                <a:latin typeface="Bahnschrift Condensed" panose="020B0502040204020203" pitchFamily="34" charset="0"/>
              </a:rPr>
              <a:t>IBERIA</a:t>
            </a:r>
          </a:p>
        </p:txBody>
      </p:sp>
      <p:sp>
        <p:nvSpPr>
          <p:cNvPr id="17" name="Rectangle 16">
            <a:extLst>
              <a:ext uri="{FF2B5EF4-FFF2-40B4-BE49-F238E27FC236}">
                <a16:creationId xmlns:a16="http://schemas.microsoft.com/office/drawing/2014/main" id="{CA7D78D4-8F62-EEEC-E009-3D907C45C257}"/>
              </a:ext>
            </a:extLst>
          </p:cNvPr>
          <p:cNvSpPr/>
          <p:nvPr/>
        </p:nvSpPr>
        <p:spPr>
          <a:xfrm>
            <a:off x="0" y="3892058"/>
            <a:ext cx="12192000" cy="2965942"/>
          </a:xfrm>
          <a:prstGeom prst="rect">
            <a:avLst/>
          </a:prstGeom>
          <a:gradFill flip="none" rotWithShape="1">
            <a:gsLst>
              <a:gs pos="100000">
                <a:schemeClr val="tx1"/>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TextBox 15">
            <a:extLst>
              <a:ext uri="{FF2B5EF4-FFF2-40B4-BE49-F238E27FC236}">
                <a16:creationId xmlns:a16="http://schemas.microsoft.com/office/drawing/2014/main" id="{489644EA-A116-7D71-C829-8DF3D15B2A7D}"/>
              </a:ext>
            </a:extLst>
          </p:cNvPr>
          <p:cNvSpPr txBox="1"/>
          <p:nvPr/>
        </p:nvSpPr>
        <p:spPr>
          <a:xfrm>
            <a:off x="4880863" y="6103923"/>
            <a:ext cx="1323975" cy="338554"/>
          </a:xfrm>
          <a:prstGeom prst="rect">
            <a:avLst/>
          </a:prstGeom>
          <a:noFill/>
        </p:spPr>
        <p:txBody>
          <a:bodyPr wrap="square">
            <a:spAutoFit/>
          </a:bodyPr>
          <a:lstStyle>
            <a:defPPr>
              <a:defRPr lang="es-ES"/>
            </a:defPPr>
            <a:lvl1pPr algn="ctr">
              <a:defRPr sz="1600" b="1">
                <a:solidFill>
                  <a:schemeClr val="bg1"/>
                </a:solidFill>
                <a:latin typeface="+mj-lt"/>
              </a:defRPr>
            </a:lvl1pPr>
          </a:lstStyle>
          <a:p>
            <a:r>
              <a:rPr lang="en-US" dirty="0"/>
              <a:t>Qu</a:t>
            </a:r>
            <a:r>
              <a:rPr lang="es-ES" dirty="0"/>
              <a:t>é</a:t>
            </a:r>
            <a:r>
              <a:rPr lang="en-US" dirty="0"/>
              <a:t> </a:t>
            </a:r>
            <a:r>
              <a:rPr lang="en-US" dirty="0" err="1"/>
              <a:t>haremos</a:t>
            </a:r>
            <a:endParaRPr lang="es-ES" dirty="0"/>
          </a:p>
        </p:txBody>
      </p:sp>
      <p:sp>
        <p:nvSpPr>
          <p:cNvPr id="7" name="TextBox 6">
            <a:extLst>
              <a:ext uri="{FF2B5EF4-FFF2-40B4-BE49-F238E27FC236}">
                <a16:creationId xmlns:a16="http://schemas.microsoft.com/office/drawing/2014/main" id="{57511EED-E61C-C7AC-3CF9-08FE858FCCB6}"/>
              </a:ext>
            </a:extLst>
          </p:cNvPr>
          <p:cNvSpPr txBox="1"/>
          <p:nvPr/>
        </p:nvSpPr>
        <p:spPr>
          <a:xfrm>
            <a:off x="6703071" y="5501648"/>
            <a:ext cx="3135087" cy="954107"/>
          </a:xfrm>
          <a:prstGeom prst="rect">
            <a:avLst/>
          </a:prstGeom>
          <a:noFill/>
        </p:spPr>
        <p:txBody>
          <a:bodyPr wrap="square">
            <a:spAutoFit/>
          </a:bodyPr>
          <a:lstStyle>
            <a:defPPr>
              <a:defRPr lang="es-ES"/>
            </a:defPPr>
            <a:lvl1pPr>
              <a:defRPr sz="2800" b="1">
                <a:solidFill>
                  <a:schemeClr val="bg1"/>
                </a:solidFill>
                <a:effectLst/>
                <a:latin typeface="Bahnschrift Condensed" panose="020B0502040204020203" pitchFamily="34" charset="0"/>
                <a:ea typeface="menlo"/>
                <a:cs typeface="menlo"/>
              </a:defRPr>
            </a:lvl1pPr>
          </a:lstStyle>
          <a:p>
            <a:r>
              <a:rPr lang="es-ES" dirty="0">
                <a:solidFill>
                  <a:srgbClr val="FE8749"/>
                </a:solidFill>
              </a:rPr>
              <a:t>Análisis de Ventas y Distribución</a:t>
            </a:r>
          </a:p>
        </p:txBody>
      </p:sp>
      <p:sp>
        <p:nvSpPr>
          <p:cNvPr id="15" name="TextBox 14">
            <a:extLst>
              <a:ext uri="{FF2B5EF4-FFF2-40B4-BE49-F238E27FC236}">
                <a16:creationId xmlns:a16="http://schemas.microsoft.com/office/drawing/2014/main" id="{DE8D4153-D8BA-A2BD-B69C-70922D85595C}"/>
              </a:ext>
            </a:extLst>
          </p:cNvPr>
          <p:cNvSpPr txBox="1"/>
          <p:nvPr/>
        </p:nvSpPr>
        <p:spPr>
          <a:xfrm>
            <a:off x="6664971" y="5260090"/>
            <a:ext cx="806710" cy="338554"/>
          </a:xfrm>
          <a:prstGeom prst="rect">
            <a:avLst/>
          </a:prstGeom>
          <a:noFill/>
        </p:spPr>
        <p:txBody>
          <a:bodyPr wrap="square">
            <a:spAutoFit/>
          </a:bodyPr>
          <a:lstStyle/>
          <a:p>
            <a:pPr algn="ctr"/>
            <a:r>
              <a:rPr lang="en-US" sz="1600" b="1" dirty="0">
                <a:solidFill>
                  <a:schemeClr val="bg1"/>
                </a:solidFill>
                <a:latin typeface="+mj-lt"/>
              </a:rPr>
              <a:t>A</a:t>
            </a:r>
            <a:r>
              <a:rPr lang="es-ES" sz="1600" b="1" dirty="0" err="1">
                <a:solidFill>
                  <a:schemeClr val="bg1"/>
                </a:solidFill>
                <a:latin typeface="+mj-lt"/>
              </a:rPr>
              <a:t>sunto</a:t>
            </a:r>
            <a:endParaRPr lang="es-ES" sz="1600" dirty="0">
              <a:solidFill>
                <a:schemeClr val="bg1"/>
              </a:solidFill>
              <a:latin typeface="+mj-lt"/>
            </a:endParaRPr>
          </a:p>
        </p:txBody>
      </p:sp>
      <p:sp>
        <p:nvSpPr>
          <p:cNvPr id="11" name="TextBox 10">
            <a:extLst>
              <a:ext uri="{FF2B5EF4-FFF2-40B4-BE49-F238E27FC236}">
                <a16:creationId xmlns:a16="http://schemas.microsoft.com/office/drawing/2014/main" id="{1BD49088-3275-DCC7-39D2-97F526FAFF8C}"/>
              </a:ext>
            </a:extLst>
          </p:cNvPr>
          <p:cNvSpPr txBox="1"/>
          <p:nvPr/>
        </p:nvSpPr>
        <p:spPr>
          <a:xfrm>
            <a:off x="-54028" y="5192641"/>
            <a:ext cx="6273852" cy="830997"/>
          </a:xfrm>
          <a:prstGeom prst="rect">
            <a:avLst/>
          </a:prstGeom>
          <a:noFill/>
        </p:spPr>
        <p:txBody>
          <a:bodyPr wrap="square">
            <a:spAutoFit/>
          </a:bodyPr>
          <a:lstStyle>
            <a:defPPr>
              <a:defRPr lang="es-ES"/>
            </a:defPPr>
            <a:lvl1pPr>
              <a:defRPr sz="2800" b="1">
                <a:solidFill>
                  <a:srgbClr val="FE8749"/>
                </a:solidFill>
                <a:effectLst/>
                <a:latin typeface="Bahnschrift Condensed" panose="020B0502040204020203" pitchFamily="34" charset="0"/>
                <a:ea typeface="menlo"/>
                <a:cs typeface="menlo"/>
              </a:defRPr>
            </a:lvl1pPr>
          </a:lstStyle>
          <a:p>
            <a:pPr algn="r"/>
            <a:r>
              <a:rPr lang="es-ES" dirty="0"/>
              <a:t>Identificar patrones de concentración y eficiencia para apoyar decisiones de negocio</a:t>
            </a:r>
          </a:p>
        </p:txBody>
      </p:sp>
      <p:sp>
        <p:nvSpPr>
          <p:cNvPr id="13" name="TextBox 12">
            <a:extLst>
              <a:ext uri="{FF2B5EF4-FFF2-40B4-BE49-F238E27FC236}">
                <a16:creationId xmlns:a16="http://schemas.microsoft.com/office/drawing/2014/main" id="{32DBD00F-5733-421C-BEEF-CA06A7781092}"/>
              </a:ext>
            </a:extLst>
          </p:cNvPr>
          <p:cNvSpPr txBox="1"/>
          <p:nvPr/>
        </p:nvSpPr>
        <p:spPr>
          <a:xfrm>
            <a:off x="12195656" y="3881422"/>
            <a:ext cx="3408947" cy="2677656"/>
          </a:xfrm>
          <a:prstGeom prst="rect">
            <a:avLst/>
          </a:prstGeom>
          <a:noFill/>
        </p:spPr>
        <p:txBody>
          <a:bodyPr wrap="square">
            <a:spAutoFit/>
          </a:bodyPr>
          <a:lstStyle>
            <a:defPPr>
              <a:defRPr lang="es-ES"/>
            </a:defPPr>
            <a:lvl1pPr>
              <a:defRPr sz="8000" b="1">
                <a:solidFill>
                  <a:schemeClr val="bg1"/>
                </a:solidFill>
                <a:effectLst/>
                <a:latin typeface="Bahnschrift Condensed" panose="020B0502040204020203" pitchFamily="34" charset="0"/>
                <a:ea typeface="menlo"/>
                <a:cs typeface="menlo"/>
              </a:defRPr>
            </a:lvl1pPr>
          </a:lstStyle>
          <a:p>
            <a:r>
              <a:rPr lang="es-ES" sz="2800" dirty="0"/>
              <a:t>FACTURACIÓN</a:t>
            </a:r>
            <a:br>
              <a:rPr lang="es-ES" sz="2800" dirty="0"/>
            </a:br>
            <a:r>
              <a:rPr lang="es-ES" sz="2800" dirty="0"/>
              <a:t>TICKET PROMEDIO</a:t>
            </a:r>
            <a:br>
              <a:rPr lang="es-ES" sz="6000" dirty="0"/>
            </a:br>
            <a:r>
              <a:rPr lang="es-ES" sz="2800" dirty="0"/>
              <a:t>MAYORISTA</a:t>
            </a:r>
            <a:br>
              <a:rPr lang="es-ES" sz="7200" dirty="0"/>
            </a:br>
            <a:r>
              <a:rPr lang="es-ES" sz="2800" dirty="0"/>
              <a:t>DIRECTO</a:t>
            </a:r>
            <a:br>
              <a:rPr lang="es-ES" sz="2800" dirty="0"/>
            </a:br>
            <a:r>
              <a:rPr lang="es-ES" sz="2800" dirty="0"/>
              <a:t>TOP3 productos</a:t>
            </a:r>
            <a:br>
              <a:rPr lang="es-ES" sz="2800" dirty="0"/>
            </a:br>
            <a:r>
              <a:rPr lang="es-ES" sz="2800" dirty="0"/>
              <a:t>SUCURSALES</a:t>
            </a:r>
            <a:endParaRPr lang="es-ES" sz="7200" dirty="0"/>
          </a:p>
        </p:txBody>
      </p:sp>
      <p:sp>
        <p:nvSpPr>
          <p:cNvPr id="18" name="TextBox 17">
            <a:extLst>
              <a:ext uri="{FF2B5EF4-FFF2-40B4-BE49-F238E27FC236}">
                <a16:creationId xmlns:a16="http://schemas.microsoft.com/office/drawing/2014/main" id="{D1F402DB-E7AA-54C1-6D3D-0AADDE857FE0}"/>
              </a:ext>
            </a:extLst>
          </p:cNvPr>
          <p:cNvSpPr txBox="1"/>
          <p:nvPr/>
        </p:nvSpPr>
        <p:spPr>
          <a:xfrm>
            <a:off x="-5332910" y="-1409395"/>
            <a:ext cx="6624176" cy="3154710"/>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19900" b="1" dirty="0">
                <a:solidFill>
                  <a:schemeClr val="bg1">
                    <a:alpha val="23000"/>
                  </a:schemeClr>
                </a:solidFill>
                <a:latin typeface="Bahnschrift Condensed" panose="020B0502040204020203" pitchFamily="34" charset="0"/>
              </a:rPr>
              <a:t>IBERIA</a:t>
            </a:r>
          </a:p>
        </p:txBody>
      </p:sp>
    </p:spTree>
    <p:extLst>
      <p:ext uri="{BB962C8B-B14F-4D97-AF65-F5344CB8AC3E}">
        <p14:creationId xmlns:p14="http://schemas.microsoft.com/office/powerpoint/2010/main" val="457898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8EFA767-1676-C8BA-07DF-243087DB5EE2}"/>
              </a:ext>
            </a:extLst>
          </p:cNvPr>
          <p:cNvPicPr>
            <a:picLocks noChangeAspect="1"/>
          </p:cNvPicPr>
          <p:nvPr/>
        </p:nvPicPr>
        <p:blipFill rotWithShape="1">
          <a:blip r:embed="rId2">
            <a:extLst>
              <a:ext uri="{28A0092B-C50C-407E-A947-70E740481C1C}">
                <a14:useLocalDpi xmlns:a14="http://schemas.microsoft.com/office/drawing/2010/main" val="0"/>
              </a:ext>
            </a:extLst>
          </a:blip>
          <a:srcRect r="44687"/>
          <a:stretch/>
        </p:blipFill>
        <p:spPr>
          <a:xfrm>
            <a:off x="0" y="-635000"/>
            <a:ext cx="6743700" cy="8128000"/>
          </a:xfrm>
          <a:prstGeom prst="rect">
            <a:avLst/>
          </a:prstGeom>
        </p:spPr>
      </p:pic>
      <p:pic>
        <p:nvPicPr>
          <p:cNvPr id="17" name="Picture 16">
            <a:extLst>
              <a:ext uri="{FF2B5EF4-FFF2-40B4-BE49-F238E27FC236}">
                <a16:creationId xmlns:a16="http://schemas.microsoft.com/office/drawing/2014/main" id="{77F88038-44E6-0E35-3321-11952163940E}"/>
              </a:ext>
            </a:extLst>
          </p:cNvPr>
          <p:cNvPicPr>
            <a:picLocks noChangeAspect="1"/>
          </p:cNvPicPr>
          <p:nvPr/>
        </p:nvPicPr>
        <p:blipFill rotWithShape="1">
          <a:blip r:embed="rId2">
            <a:extLst>
              <a:ext uri="{28A0092B-C50C-407E-A947-70E740481C1C}">
                <a14:useLocalDpi xmlns:a14="http://schemas.microsoft.com/office/drawing/2010/main" val="0"/>
              </a:ext>
            </a:extLst>
          </a:blip>
          <a:srcRect l="55313" r="-10626"/>
          <a:stretch/>
        </p:blipFill>
        <p:spPr>
          <a:xfrm>
            <a:off x="6743700" y="-635000"/>
            <a:ext cx="6743700" cy="8128000"/>
          </a:xfrm>
          <a:prstGeom prst="rect">
            <a:avLst/>
          </a:prstGeom>
        </p:spPr>
      </p:pic>
      <p:pic>
        <p:nvPicPr>
          <p:cNvPr id="11" name="Picture 10">
            <a:extLst>
              <a:ext uri="{FF2B5EF4-FFF2-40B4-BE49-F238E27FC236}">
                <a16:creationId xmlns:a16="http://schemas.microsoft.com/office/drawing/2014/main" id="{AD9AB007-AD69-EAB5-0627-83119B121A2C}"/>
              </a:ext>
            </a:extLst>
          </p:cNvPr>
          <p:cNvPicPr>
            <a:picLocks noChangeAspect="1"/>
          </p:cNvPicPr>
          <p:nvPr/>
        </p:nvPicPr>
        <p:blipFill rotWithShape="1">
          <a:blip r:embed="rId3">
            <a:extLst>
              <a:ext uri="{28A0092B-C50C-407E-A947-70E740481C1C}">
                <a14:useLocalDpi xmlns:a14="http://schemas.microsoft.com/office/drawing/2010/main" val="0"/>
              </a:ext>
            </a:extLst>
          </a:blip>
          <a:srcRect l="52724"/>
          <a:stretch/>
        </p:blipFill>
        <p:spPr>
          <a:xfrm>
            <a:off x="6428096" y="-644857"/>
            <a:ext cx="5763904" cy="8147714"/>
          </a:xfrm>
          <a:prstGeom prst="rect">
            <a:avLst/>
          </a:prstGeom>
        </p:spPr>
      </p:pic>
      <p:sp>
        <p:nvSpPr>
          <p:cNvPr id="6" name="TextBox 5">
            <a:extLst>
              <a:ext uri="{FF2B5EF4-FFF2-40B4-BE49-F238E27FC236}">
                <a16:creationId xmlns:a16="http://schemas.microsoft.com/office/drawing/2014/main" id="{23C71011-A16A-D3EC-82FC-E0EAFB4CC63A}"/>
              </a:ext>
            </a:extLst>
          </p:cNvPr>
          <p:cNvSpPr txBox="1"/>
          <p:nvPr/>
        </p:nvSpPr>
        <p:spPr>
          <a:xfrm>
            <a:off x="6549746" y="411397"/>
            <a:ext cx="4883120" cy="2554545"/>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8000" b="1" dirty="0">
                <a:latin typeface="Bahnschrift Condensed" panose="020B0502040204020203" pitchFamily="34" charset="0"/>
              </a:rPr>
              <a:t>KPIs CLAVE</a:t>
            </a:r>
          </a:p>
          <a:p>
            <a:r>
              <a:rPr lang="en-US" sz="8000" b="1" dirty="0">
                <a:latin typeface="Bahnschrift Condensed" panose="020B0502040204020203" pitchFamily="34" charset="0"/>
              </a:rPr>
              <a:t>DESTACADOS</a:t>
            </a:r>
            <a:endParaRPr lang="es-ES" sz="8000" b="1" dirty="0">
              <a:latin typeface="Bahnschrift Condensed" panose="020B0502040204020203" pitchFamily="34" charset="0"/>
            </a:endParaRPr>
          </a:p>
        </p:txBody>
      </p:sp>
      <p:pic>
        <p:nvPicPr>
          <p:cNvPr id="10" name="Picture 9">
            <a:extLst>
              <a:ext uri="{FF2B5EF4-FFF2-40B4-BE49-F238E27FC236}">
                <a16:creationId xmlns:a16="http://schemas.microsoft.com/office/drawing/2014/main" id="{11955309-BA0F-E59B-BFD3-5AB33FCDC02A}"/>
              </a:ext>
            </a:extLst>
          </p:cNvPr>
          <p:cNvPicPr>
            <a:picLocks noChangeAspect="1"/>
          </p:cNvPicPr>
          <p:nvPr/>
        </p:nvPicPr>
        <p:blipFill rotWithShape="1">
          <a:blip r:embed="rId3">
            <a:extLst>
              <a:ext uri="{28A0092B-C50C-407E-A947-70E740481C1C}">
                <a14:useLocalDpi xmlns:a14="http://schemas.microsoft.com/office/drawing/2010/main" val="0"/>
              </a:ext>
            </a:extLst>
          </a:blip>
          <a:srcRect r="47276"/>
          <a:stretch/>
        </p:blipFill>
        <p:spPr>
          <a:xfrm>
            <a:off x="0" y="-644857"/>
            <a:ext cx="6428096" cy="8147714"/>
          </a:xfrm>
          <a:prstGeom prst="rect">
            <a:avLst/>
          </a:prstGeom>
        </p:spPr>
      </p:pic>
      <p:sp>
        <p:nvSpPr>
          <p:cNvPr id="16" name="Rectangle 15">
            <a:extLst>
              <a:ext uri="{FF2B5EF4-FFF2-40B4-BE49-F238E27FC236}">
                <a16:creationId xmlns:a16="http://schemas.microsoft.com/office/drawing/2014/main" id="{1A76AADA-D40E-CB27-5270-F575E1EE7F65}"/>
              </a:ext>
            </a:extLst>
          </p:cNvPr>
          <p:cNvSpPr/>
          <p:nvPr/>
        </p:nvSpPr>
        <p:spPr>
          <a:xfrm>
            <a:off x="0" y="3892058"/>
            <a:ext cx="12192000" cy="2965942"/>
          </a:xfrm>
          <a:prstGeom prst="rect">
            <a:avLst/>
          </a:prstGeom>
          <a:gradFill flip="none" rotWithShape="1">
            <a:gsLst>
              <a:gs pos="100000">
                <a:schemeClr val="tx1"/>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TextBox 14">
            <a:extLst>
              <a:ext uri="{FF2B5EF4-FFF2-40B4-BE49-F238E27FC236}">
                <a16:creationId xmlns:a16="http://schemas.microsoft.com/office/drawing/2014/main" id="{36264EA5-41F4-021E-C08C-0214AA74DF03}"/>
              </a:ext>
            </a:extLst>
          </p:cNvPr>
          <p:cNvSpPr txBox="1"/>
          <p:nvPr/>
        </p:nvSpPr>
        <p:spPr>
          <a:xfrm>
            <a:off x="6581644" y="3881422"/>
            <a:ext cx="3408947" cy="2677656"/>
          </a:xfrm>
          <a:prstGeom prst="rect">
            <a:avLst/>
          </a:prstGeom>
          <a:noFill/>
        </p:spPr>
        <p:txBody>
          <a:bodyPr wrap="square">
            <a:spAutoFit/>
          </a:bodyPr>
          <a:lstStyle>
            <a:defPPr>
              <a:defRPr lang="es-ES"/>
            </a:defPPr>
            <a:lvl1pPr>
              <a:defRPr sz="8000" b="1">
                <a:solidFill>
                  <a:schemeClr val="bg1"/>
                </a:solidFill>
                <a:effectLst/>
                <a:latin typeface="Bahnschrift Condensed" panose="020B0502040204020203" pitchFamily="34" charset="0"/>
                <a:ea typeface="menlo"/>
                <a:cs typeface="menlo"/>
              </a:defRPr>
            </a:lvl1pPr>
          </a:lstStyle>
          <a:p>
            <a:r>
              <a:rPr lang="es-ES" sz="2800" dirty="0"/>
              <a:t>FACTURACIÓN</a:t>
            </a:r>
            <a:br>
              <a:rPr lang="es-ES" sz="2800" dirty="0"/>
            </a:br>
            <a:r>
              <a:rPr lang="es-ES" sz="2800" dirty="0"/>
              <a:t>TICKET PROMEDIO</a:t>
            </a:r>
            <a:br>
              <a:rPr lang="es-ES" sz="6000" dirty="0"/>
            </a:br>
            <a:r>
              <a:rPr lang="es-ES" sz="2800" dirty="0"/>
              <a:t>MAYORISTA</a:t>
            </a:r>
            <a:br>
              <a:rPr lang="es-ES" sz="7200" dirty="0"/>
            </a:br>
            <a:r>
              <a:rPr lang="es-ES" sz="2800" dirty="0"/>
              <a:t>DIRECTO</a:t>
            </a:r>
            <a:br>
              <a:rPr lang="es-ES" sz="2800" dirty="0"/>
            </a:br>
            <a:r>
              <a:rPr lang="es-ES" sz="2800" dirty="0"/>
              <a:t>TOP3 productos</a:t>
            </a:r>
            <a:br>
              <a:rPr lang="es-ES" sz="2800" dirty="0"/>
            </a:br>
            <a:r>
              <a:rPr lang="es-ES" sz="2800" dirty="0"/>
              <a:t>SUCURSALES</a:t>
            </a:r>
            <a:endParaRPr lang="es-ES" sz="7200" dirty="0"/>
          </a:p>
        </p:txBody>
      </p:sp>
      <p:sp>
        <p:nvSpPr>
          <p:cNvPr id="18" name="TextBox 17">
            <a:extLst>
              <a:ext uri="{FF2B5EF4-FFF2-40B4-BE49-F238E27FC236}">
                <a16:creationId xmlns:a16="http://schemas.microsoft.com/office/drawing/2014/main" id="{60341870-4970-4F21-3379-579023BDC50A}"/>
              </a:ext>
            </a:extLst>
          </p:cNvPr>
          <p:cNvSpPr txBox="1"/>
          <p:nvPr/>
        </p:nvSpPr>
        <p:spPr>
          <a:xfrm>
            <a:off x="555881" y="3897645"/>
            <a:ext cx="5618746" cy="2677656"/>
          </a:xfrm>
          <a:prstGeom prst="rect">
            <a:avLst/>
          </a:prstGeom>
          <a:noFill/>
        </p:spPr>
        <p:txBody>
          <a:bodyPr wrap="square">
            <a:spAutoFit/>
          </a:bodyPr>
          <a:lstStyle>
            <a:defPPr>
              <a:defRPr lang="es-ES"/>
            </a:defPPr>
            <a:lvl1pPr algn="r">
              <a:defRPr sz="2800">
                <a:solidFill>
                  <a:schemeClr val="bg1"/>
                </a:solidFill>
                <a:effectLst/>
                <a:ea typeface="menlo"/>
                <a:cs typeface="menlo"/>
              </a:defRPr>
            </a:lvl1pPr>
          </a:lstStyle>
          <a:p>
            <a:r>
              <a:rPr lang="es-ES" dirty="0">
                <a:solidFill>
                  <a:srgbClr val="FEAF18"/>
                </a:solidFill>
              </a:rPr>
              <a:t>1.94</a:t>
            </a:r>
            <a:r>
              <a:rPr lang="es-ES" dirty="0"/>
              <a:t>M€</a:t>
            </a:r>
            <a:br>
              <a:rPr lang="es-ES" dirty="0">
                <a:solidFill>
                  <a:srgbClr val="FE8749"/>
                </a:solidFill>
              </a:rPr>
            </a:br>
            <a:r>
              <a:rPr lang="es-ES" dirty="0">
                <a:solidFill>
                  <a:srgbClr val="FEAF18"/>
                </a:solidFill>
              </a:rPr>
              <a:t>48.6</a:t>
            </a:r>
            <a:r>
              <a:rPr lang="es-ES" dirty="0"/>
              <a:t>k€ </a:t>
            </a:r>
            <a:br>
              <a:rPr lang="es-ES" dirty="0">
                <a:solidFill>
                  <a:srgbClr val="FE8749"/>
                </a:solidFill>
              </a:rPr>
            </a:br>
            <a:r>
              <a:rPr lang="es-ES" dirty="0">
                <a:solidFill>
                  <a:srgbClr val="FEAF18"/>
                </a:solidFill>
              </a:rPr>
              <a:t>65% </a:t>
            </a:r>
            <a:r>
              <a:rPr lang="es-ES" dirty="0"/>
              <a:t>ingresos (</a:t>
            </a:r>
            <a:r>
              <a:rPr lang="es-ES" dirty="0">
                <a:solidFill>
                  <a:srgbClr val="FEAF18"/>
                </a:solidFill>
              </a:rPr>
              <a:t>4.2% </a:t>
            </a:r>
            <a:r>
              <a:rPr lang="es-ES" dirty="0"/>
              <a:t>descuento)</a:t>
            </a:r>
            <a:br>
              <a:rPr lang="es-ES" dirty="0">
                <a:solidFill>
                  <a:srgbClr val="FE8749"/>
                </a:solidFill>
              </a:rPr>
            </a:br>
            <a:r>
              <a:rPr lang="es-ES" dirty="0">
                <a:solidFill>
                  <a:srgbClr val="FEAF18"/>
                </a:solidFill>
              </a:rPr>
              <a:t>13% </a:t>
            </a:r>
            <a:r>
              <a:rPr lang="es-ES" dirty="0"/>
              <a:t>ingresos (</a:t>
            </a:r>
            <a:r>
              <a:rPr lang="es-ES" dirty="0">
                <a:solidFill>
                  <a:srgbClr val="FEAF18"/>
                </a:solidFill>
              </a:rPr>
              <a:t>0.5% </a:t>
            </a:r>
            <a:r>
              <a:rPr lang="es-ES" dirty="0"/>
              <a:t>descuento = ⭐)</a:t>
            </a:r>
            <a:br>
              <a:rPr lang="es-ES" dirty="0">
                <a:solidFill>
                  <a:srgbClr val="FE8749"/>
                </a:solidFill>
              </a:rPr>
            </a:br>
            <a:r>
              <a:rPr lang="es-ES" dirty="0">
                <a:solidFill>
                  <a:srgbClr val="FEAF18"/>
                </a:solidFill>
              </a:rPr>
              <a:t>31%</a:t>
            </a:r>
            <a:r>
              <a:rPr lang="es-ES" dirty="0">
                <a:solidFill>
                  <a:srgbClr val="FE8749"/>
                </a:solidFill>
              </a:rPr>
              <a:t> </a:t>
            </a:r>
            <a:r>
              <a:rPr lang="es-ES" dirty="0"/>
              <a:t>ventas totales</a:t>
            </a:r>
            <a:br>
              <a:rPr lang="es-ES" dirty="0">
                <a:solidFill>
                  <a:srgbClr val="FE8749"/>
                </a:solidFill>
              </a:rPr>
            </a:br>
            <a:r>
              <a:rPr lang="es-ES" dirty="0">
                <a:solidFill>
                  <a:srgbClr val="FEAF18"/>
                </a:solidFill>
              </a:rPr>
              <a:t>100%</a:t>
            </a:r>
            <a:r>
              <a:rPr lang="es-ES" dirty="0">
                <a:solidFill>
                  <a:srgbClr val="FE8749"/>
                </a:solidFill>
              </a:rPr>
              <a:t> </a:t>
            </a:r>
            <a:r>
              <a:rPr lang="es-ES" dirty="0"/>
              <a:t>Pedido Perfecto</a:t>
            </a:r>
          </a:p>
        </p:txBody>
      </p:sp>
      <p:sp>
        <p:nvSpPr>
          <p:cNvPr id="19" name="TextBox 18">
            <a:extLst>
              <a:ext uri="{FF2B5EF4-FFF2-40B4-BE49-F238E27FC236}">
                <a16:creationId xmlns:a16="http://schemas.microsoft.com/office/drawing/2014/main" id="{A31545F7-FCB3-C077-8F9E-A1CA47AFD9AB}"/>
              </a:ext>
            </a:extLst>
          </p:cNvPr>
          <p:cNvSpPr txBox="1"/>
          <p:nvPr/>
        </p:nvSpPr>
        <p:spPr>
          <a:xfrm>
            <a:off x="-335589" y="-1409395"/>
            <a:ext cx="6624176" cy="3154710"/>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19900" b="1" dirty="0">
                <a:solidFill>
                  <a:schemeClr val="bg1">
                    <a:alpha val="10000"/>
                  </a:schemeClr>
                </a:solidFill>
                <a:latin typeface="Bahnschrift Condensed" panose="020B0502040204020203" pitchFamily="34" charset="0"/>
              </a:rPr>
              <a:t>IBERIA</a:t>
            </a:r>
          </a:p>
        </p:txBody>
      </p:sp>
      <p:sp>
        <p:nvSpPr>
          <p:cNvPr id="26" name="TextBox 25">
            <a:extLst>
              <a:ext uri="{FF2B5EF4-FFF2-40B4-BE49-F238E27FC236}">
                <a16:creationId xmlns:a16="http://schemas.microsoft.com/office/drawing/2014/main" id="{35395ECE-2629-2CAF-7FEE-E176D41BCBCD}"/>
              </a:ext>
            </a:extLst>
          </p:cNvPr>
          <p:cNvSpPr txBox="1"/>
          <p:nvPr/>
        </p:nvSpPr>
        <p:spPr>
          <a:xfrm>
            <a:off x="12178300" y="137674"/>
            <a:ext cx="4112142" cy="2554545"/>
          </a:xfrm>
          <a:prstGeom prst="rect">
            <a:avLst/>
          </a:prstGeom>
          <a:noFill/>
        </p:spPr>
        <p:txBody>
          <a:bodyPr wrap="square">
            <a:spAutoFit/>
          </a:bodyPr>
          <a:lstStyle>
            <a:defPPr>
              <a:defRPr lang="es-ES"/>
            </a:defPPr>
            <a:lvl1pPr>
              <a:defRPr sz="8000" b="1">
                <a:solidFill>
                  <a:schemeClr val="bg1"/>
                </a:solidFill>
                <a:effectLst/>
                <a:latin typeface="Bahnschrift Condensed" panose="020B0502040204020203" pitchFamily="34" charset="0"/>
                <a:ea typeface="menlo"/>
                <a:cs typeface="menlo"/>
              </a:defRPr>
            </a:lvl1pPr>
          </a:lstStyle>
          <a:p>
            <a:r>
              <a:rPr lang="es-ES" dirty="0">
                <a:solidFill>
                  <a:srgbClr val="FEAF18"/>
                </a:solidFill>
              </a:rPr>
              <a:t>VISTAZO</a:t>
            </a:r>
          </a:p>
          <a:p>
            <a:r>
              <a:rPr lang="es-ES" dirty="0">
                <a:solidFill>
                  <a:srgbClr val="FEAF18"/>
                </a:solidFill>
              </a:rPr>
              <a:t>EJECUTIVO</a:t>
            </a:r>
          </a:p>
        </p:txBody>
      </p:sp>
    </p:spTree>
    <p:extLst>
      <p:ext uri="{BB962C8B-B14F-4D97-AF65-F5344CB8AC3E}">
        <p14:creationId xmlns:p14="http://schemas.microsoft.com/office/powerpoint/2010/main" val="417922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2.08333E-6 0 L 0.30833 -0.00023 " pathEditMode="relative" rAng="0" ptsTypes="AA">
                                      <p:cBhvr>
                                        <p:cTn id="6" dur="1500" fill="hold"/>
                                        <p:tgtEl>
                                          <p:spTgt spid="26"/>
                                        </p:tgtEl>
                                        <p:attrNameLst>
                                          <p:attrName>ppt_x</p:attrName>
                                          <p:attrName>ppt_y</p:attrName>
                                        </p:attrNameLst>
                                      </p:cBhvr>
                                      <p:rCtr x="15417"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1F6CC3-7F98-B992-42B3-8520B00FAFB3}"/>
              </a:ext>
            </a:extLst>
          </p:cNvPr>
          <p:cNvPicPr>
            <a:picLocks noChangeAspect="1"/>
          </p:cNvPicPr>
          <p:nvPr/>
        </p:nvPicPr>
        <p:blipFill rotWithShape="1">
          <a:blip r:embed="rId3">
            <a:extLst>
              <a:ext uri="{28A0092B-C50C-407E-A947-70E740481C1C}">
                <a14:useLocalDpi xmlns:a14="http://schemas.microsoft.com/office/drawing/2010/main" val="0"/>
              </a:ext>
            </a:extLst>
          </a:blip>
          <a:srcRect l="55313" r="-10626"/>
          <a:stretch/>
        </p:blipFill>
        <p:spPr>
          <a:xfrm>
            <a:off x="6743700" y="-635000"/>
            <a:ext cx="6743700" cy="8128000"/>
          </a:xfrm>
          <a:prstGeom prst="rect">
            <a:avLst/>
          </a:prstGeom>
        </p:spPr>
      </p:pic>
      <p:pic>
        <p:nvPicPr>
          <p:cNvPr id="11" name="Picture 10">
            <a:extLst>
              <a:ext uri="{FF2B5EF4-FFF2-40B4-BE49-F238E27FC236}">
                <a16:creationId xmlns:a16="http://schemas.microsoft.com/office/drawing/2014/main" id="{4CAF87FE-FDEC-203E-0F1A-9E1FE26BA24A}"/>
              </a:ext>
            </a:extLst>
          </p:cNvPr>
          <p:cNvPicPr>
            <a:picLocks noChangeAspect="1"/>
          </p:cNvPicPr>
          <p:nvPr/>
        </p:nvPicPr>
        <p:blipFill rotWithShape="1">
          <a:blip r:embed="rId3">
            <a:extLst>
              <a:ext uri="{28A0092B-C50C-407E-A947-70E740481C1C}">
                <a14:useLocalDpi xmlns:a14="http://schemas.microsoft.com/office/drawing/2010/main" val="0"/>
              </a:ext>
            </a:extLst>
          </a:blip>
          <a:srcRect r="44687"/>
          <a:stretch/>
        </p:blipFill>
        <p:spPr>
          <a:xfrm>
            <a:off x="0" y="-635000"/>
            <a:ext cx="6743700" cy="8128000"/>
          </a:xfrm>
          <a:prstGeom prst="rect">
            <a:avLst/>
          </a:prstGeom>
        </p:spPr>
      </p:pic>
      <p:sp>
        <p:nvSpPr>
          <p:cNvPr id="3" name="Rectangle 2">
            <a:extLst>
              <a:ext uri="{FF2B5EF4-FFF2-40B4-BE49-F238E27FC236}">
                <a16:creationId xmlns:a16="http://schemas.microsoft.com/office/drawing/2014/main" id="{74682B4D-19ED-86AB-9CD3-25A4B928F0C6}"/>
              </a:ext>
            </a:extLst>
          </p:cNvPr>
          <p:cNvSpPr/>
          <p:nvPr/>
        </p:nvSpPr>
        <p:spPr>
          <a:xfrm>
            <a:off x="0" y="2477386"/>
            <a:ext cx="12192000" cy="4380614"/>
          </a:xfrm>
          <a:prstGeom prst="rect">
            <a:avLst/>
          </a:prstGeom>
          <a:gradFill flip="none" rotWithShape="1">
            <a:gsLst>
              <a:gs pos="100000">
                <a:schemeClr val="tx1"/>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TextBox 6">
            <a:extLst>
              <a:ext uri="{FF2B5EF4-FFF2-40B4-BE49-F238E27FC236}">
                <a16:creationId xmlns:a16="http://schemas.microsoft.com/office/drawing/2014/main" id="{977C7709-FFC5-F034-2009-048F537C3E91}"/>
              </a:ext>
            </a:extLst>
          </p:cNvPr>
          <p:cNvSpPr txBox="1"/>
          <p:nvPr/>
        </p:nvSpPr>
        <p:spPr>
          <a:xfrm>
            <a:off x="1362075" y="4194356"/>
            <a:ext cx="9296400" cy="2251065"/>
          </a:xfrm>
          <a:prstGeom prst="rect">
            <a:avLst/>
          </a:prstGeom>
          <a:noFill/>
        </p:spPr>
        <p:txBody>
          <a:bodyPr wrap="square">
            <a:spAutoFit/>
          </a:bodyPr>
          <a:lstStyle/>
          <a:p>
            <a:pPr lvl="0">
              <a:lnSpc>
                <a:spcPct val="150000"/>
              </a:lnSpc>
              <a:spcBef>
                <a:spcPts val="525"/>
              </a:spcBef>
              <a:spcAft>
                <a:spcPts val="525"/>
              </a:spcAft>
              <a:tabLst>
                <a:tab pos="571500" algn="l"/>
              </a:tabLst>
            </a:pPr>
            <a: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t>El negocio muestra una fuerte concentración en el </a:t>
            </a:r>
            <a:r>
              <a:rPr lang="es-ES" sz="2400" dirty="0">
                <a:solidFill>
                  <a:srgbClr val="FEAF18"/>
                </a:solidFill>
                <a:latin typeface="Calibri" panose="020F0502020204030204" pitchFamily="34" charset="0"/>
                <a:ea typeface="Calibri" panose="020F0502020204030204" pitchFamily="34" charset="0"/>
                <a:cs typeface="Times New Roman" panose="02020603050405020304" pitchFamily="18" charset="0"/>
              </a:rPr>
              <a:t>canal Mayorista</a:t>
            </a:r>
            <a: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t>.</a:t>
            </a:r>
            <a:b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br>
            <a: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t>La operación presenta variabilidad en </a:t>
            </a:r>
            <a:r>
              <a:rPr lang="es-ES" sz="2400" dirty="0">
                <a:solidFill>
                  <a:srgbClr val="FEAF18"/>
                </a:solidFill>
                <a:latin typeface="Calibri" panose="020F0502020204030204" pitchFamily="34" charset="0"/>
                <a:ea typeface="Calibri" panose="020F0502020204030204" pitchFamily="34" charset="0"/>
                <a:cs typeface="Times New Roman" panose="02020603050405020304" pitchFamily="18" charset="0"/>
              </a:rPr>
              <a:t>cumplimiento</a:t>
            </a:r>
            <a: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t>, </a:t>
            </a:r>
            <a:r>
              <a:rPr lang="es-ES" sz="2400" dirty="0">
                <a:solidFill>
                  <a:srgbClr val="FEAF18"/>
                </a:solidFill>
                <a:latin typeface="Calibri" panose="020F0502020204030204" pitchFamily="34" charset="0"/>
                <a:ea typeface="Calibri" panose="020F0502020204030204" pitchFamily="34" charset="0"/>
                <a:cs typeface="Times New Roman" panose="02020603050405020304" pitchFamily="18" charset="0"/>
              </a:rPr>
              <a:t>tiempos</a:t>
            </a:r>
            <a: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t> y </a:t>
            </a:r>
            <a:r>
              <a:rPr lang="es-ES" sz="2400" dirty="0">
                <a:solidFill>
                  <a:srgbClr val="FEAF18"/>
                </a:solidFill>
                <a:latin typeface="Calibri" panose="020F0502020204030204" pitchFamily="34" charset="0"/>
                <a:ea typeface="Calibri" panose="020F0502020204030204" pitchFamily="34" charset="0"/>
                <a:cs typeface="Times New Roman" panose="02020603050405020304" pitchFamily="18" charset="0"/>
              </a:rPr>
              <a:t>coste</a:t>
            </a:r>
            <a: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t>.</a:t>
            </a:r>
            <a:b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br>
            <a: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t>El valor del análisis está en conectar </a:t>
            </a:r>
            <a:r>
              <a:rPr lang="es-ES" sz="2400" dirty="0">
                <a:solidFill>
                  <a:srgbClr val="FEAF18"/>
                </a:solidFill>
                <a:latin typeface="Calibri" panose="020F0502020204030204" pitchFamily="34" charset="0"/>
                <a:ea typeface="Calibri" panose="020F0502020204030204" pitchFamily="34" charset="0"/>
                <a:cs typeface="Times New Roman" panose="02020603050405020304" pitchFamily="18" charset="0"/>
              </a:rPr>
              <a:t>ventas</a:t>
            </a:r>
            <a: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t> con </a:t>
            </a:r>
            <a:r>
              <a:rPr lang="es-ES" sz="2400" dirty="0">
                <a:solidFill>
                  <a:srgbClr val="FEAF18"/>
                </a:solidFill>
                <a:latin typeface="Calibri" panose="020F0502020204030204" pitchFamily="34" charset="0"/>
                <a:ea typeface="Calibri" panose="020F0502020204030204" pitchFamily="34" charset="0"/>
                <a:cs typeface="Times New Roman" panose="02020603050405020304" pitchFamily="18" charset="0"/>
              </a:rPr>
              <a:t>operación</a:t>
            </a:r>
            <a:r>
              <a:rPr lang="es-ES" sz="2400" dirty="0">
                <a:solidFill>
                  <a:srgbClr val="8FB9E7"/>
                </a:solidFill>
                <a:latin typeface="Calibri" panose="020F0502020204030204" pitchFamily="34" charset="0"/>
                <a:ea typeface="Calibri" panose="020F0502020204030204" pitchFamily="34" charset="0"/>
                <a:cs typeface="Times New Roman" panose="02020603050405020304" pitchFamily="18" charset="0"/>
              </a:rPr>
              <a:t> para detectar dónde se gana y dónde se pierde eficiencia.</a:t>
            </a:r>
          </a:p>
        </p:txBody>
      </p:sp>
      <p:sp>
        <p:nvSpPr>
          <p:cNvPr id="10" name="TextBox 9">
            <a:extLst>
              <a:ext uri="{FF2B5EF4-FFF2-40B4-BE49-F238E27FC236}">
                <a16:creationId xmlns:a16="http://schemas.microsoft.com/office/drawing/2014/main" id="{CB5E4DC0-9EDD-E68B-EA7C-2C9CBD545E6E}"/>
              </a:ext>
            </a:extLst>
          </p:cNvPr>
          <p:cNvSpPr txBox="1"/>
          <p:nvPr/>
        </p:nvSpPr>
        <p:spPr>
          <a:xfrm>
            <a:off x="-335589" y="-1398762"/>
            <a:ext cx="6624176" cy="3154710"/>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19900" b="1" dirty="0">
                <a:solidFill>
                  <a:schemeClr val="bg1">
                    <a:alpha val="10000"/>
                  </a:schemeClr>
                </a:solidFill>
                <a:latin typeface="Bahnschrift Condensed" panose="020B0502040204020203" pitchFamily="34" charset="0"/>
              </a:rPr>
              <a:t>IBERIA</a:t>
            </a:r>
          </a:p>
        </p:txBody>
      </p:sp>
      <p:sp>
        <p:nvSpPr>
          <p:cNvPr id="17" name="TextBox 16">
            <a:extLst>
              <a:ext uri="{FF2B5EF4-FFF2-40B4-BE49-F238E27FC236}">
                <a16:creationId xmlns:a16="http://schemas.microsoft.com/office/drawing/2014/main" id="{598FCA46-DB52-A332-CB19-577397B02608}"/>
              </a:ext>
            </a:extLst>
          </p:cNvPr>
          <p:cNvSpPr txBox="1"/>
          <p:nvPr/>
        </p:nvSpPr>
        <p:spPr>
          <a:xfrm>
            <a:off x="12226646" y="411397"/>
            <a:ext cx="4883120" cy="2554545"/>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8000" b="1" dirty="0">
                <a:latin typeface="Bahnschrift Condensed" panose="020B0502040204020203" pitchFamily="34" charset="0"/>
              </a:rPr>
              <a:t>KPIs CLAVE</a:t>
            </a:r>
          </a:p>
          <a:p>
            <a:r>
              <a:rPr lang="en-US" sz="8000" b="1" dirty="0">
                <a:latin typeface="Bahnschrift Condensed" panose="020B0502040204020203" pitchFamily="34" charset="0"/>
              </a:rPr>
              <a:t>DESTACADOS</a:t>
            </a:r>
            <a:endParaRPr lang="es-ES" sz="8000" b="1" dirty="0">
              <a:latin typeface="Bahnschrift Condensed" panose="020B0502040204020203" pitchFamily="34" charset="0"/>
            </a:endParaRPr>
          </a:p>
        </p:txBody>
      </p:sp>
      <p:sp>
        <p:nvSpPr>
          <p:cNvPr id="14" name="TextBox 13">
            <a:extLst>
              <a:ext uri="{FF2B5EF4-FFF2-40B4-BE49-F238E27FC236}">
                <a16:creationId xmlns:a16="http://schemas.microsoft.com/office/drawing/2014/main" id="{6120CA68-0EE2-138A-ED0C-017357706FC5}"/>
              </a:ext>
            </a:extLst>
          </p:cNvPr>
          <p:cNvSpPr txBox="1"/>
          <p:nvPr/>
        </p:nvSpPr>
        <p:spPr>
          <a:xfrm>
            <a:off x="6882400" y="137674"/>
            <a:ext cx="4112142" cy="2554545"/>
          </a:xfrm>
          <a:prstGeom prst="rect">
            <a:avLst/>
          </a:prstGeom>
          <a:noFill/>
        </p:spPr>
        <p:txBody>
          <a:bodyPr wrap="square">
            <a:spAutoFit/>
          </a:bodyPr>
          <a:lstStyle>
            <a:defPPr>
              <a:defRPr lang="es-ES"/>
            </a:defPPr>
            <a:lvl1pPr>
              <a:defRPr sz="8000" b="1">
                <a:solidFill>
                  <a:schemeClr val="bg1"/>
                </a:solidFill>
                <a:effectLst/>
                <a:latin typeface="Bahnschrift Condensed" panose="020B0502040204020203" pitchFamily="34" charset="0"/>
                <a:ea typeface="menlo"/>
                <a:cs typeface="menlo"/>
              </a:defRPr>
            </a:lvl1pPr>
          </a:lstStyle>
          <a:p>
            <a:r>
              <a:rPr lang="es-ES" dirty="0">
                <a:solidFill>
                  <a:srgbClr val="FEAF18"/>
                </a:solidFill>
              </a:rPr>
              <a:t>VISTAZO</a:t>
            </a:r>
          </a:p>
          <a:p>
            <a:r>
              <a:rPr lang="es-ES" dirty="0">
                <a:solidFill>
                  <a:srgbClr val="FEAF18"/>
                </a:solidFill>
              </a:rPr>
              <a:t>EJECUTIVO</a:t>
            </a:r>
          </a:p>
        </p:txBody>
      </p:sp>
      <p:sp>
        <p:nvSpPr>
          <p:cNvPr id="19" name="TextBox 18">
            <a:extLst>
              <a:ext uri="{FF2B5EF4-FFF2-40B4-BE49-F238E27FC236}">
                <a16:creationId xmlns:a16="http://schemas.microsoft.com/office/drawing/2014/main" id="{9A6860EB-070C-102A-5A26-C4BE9E641707}"/>
              </a:ext>
            </a:extLst>
          </p:cNvPr>
          <p:cNvSpPr txBox="1"/>
          <p:nvPr/>
        </p:nvSpPr>
        <p:spPr>
          <a:xfrm>
            <a:off x="12136942" y="142007"/>
            <a:ext cx="5112488" cy="2554545"/>
          </a:xfrm>
          <a:prstGeom prst="rect">
            <a:avLst/>
          </a:prstGeom>
          <a:noFill/>
        </p:spPr>
        <p:txBody>
          <a:bodyPr wrap="square">
            <a:spAutoFit/>
          </a:bodyPr>
          <a:lstStyle>
            <a:defPPr>
              <a:defRPr lang="es-ES"/>
            </a:defPPr>
            <a:lvl1pPr>
              <a:defRPr sz="8000" b="1">
                <a:solidFill>
                  <a:srgbClr val="F5D055"/>
                </a:solidFill>
                <a:effectLst/>
                <a:latin typeface="Bahnschrift Condensed" panose="020B0502040204020203" pitchFamily="34" charset="0"/>
                <a:ea typeface="menlo"/>
                <a:cs typeface="menlo"/>
              </a:defRPr>
            </a:lvl1pPr>
          </a:lstStyle>
          <a:p>
            <a:r>
              <a:rPr lang="es-ES" dirty="0">
                <a:solidFill>
                  <a:srgbClr val="FEAF18"/>
                </a:solidFill>
              </a:rPr>
              <a:t>HALLASGOZ</a:t>
            </a:r>
          </a:p>
          <a:p>
            <a:r>
              <a:rPr lang="es-ES" dirty="0" err="1">
                <a:solidFill>
                  <a:srgbClr val="FEAF18"/>
                </a:solidFill>
              </a:rPr>
              <a:t>CRíTICOS</a:t>
            </a:r>
            <a:endParaRPr lang="es-ES" dirty="0">
              <a:solidFill>
                <a:srgbClr val="FEAF18"/>
              </a:solidFill>
            </a:endParaRPr>
          </a:p>
        </p:txBody>
      </p:sp>
      <p:sp>
        <p:nvSpPr>
          <p:cNvPr id="20" name="TextBox 19">
            <a:extLst>
              <a:ext uri="{FF2B5EF4-FFF2-40B4-BE49-F238E27FC236}">
                <a16:creationId xmlns:a16="http://schemas.microsoft.com/office/drawing/2014/main" id="{4217937A-36A3-7748-8B84-9E1CB134A07C}"/>
              </a:ext>
            </a:extLst>
          </p:cNvPr>
          <p:cNvSpPr txBox="1"/>
          <p:nvPr/>
        </p:nvSpPr>
        <p:spPr>
          <a:xfrm>
            <a:off x="-2800208" y="5049399"/>
            <a:ext cx="3207203" cy="830997"/>
          </a:xfrm>
          <a:prstGeom prst="rect">
            <a:avLst/>
          </a:prstGeom>
          <a:noFill/>
        </p:spPr>
        <p:txBody>
          <a:bodyPr wrap="square">
            <a:spAutoFit/>
          </a:bodyPr>
          <a:lstStyle>
            <a:defPPr>
              <a:defRPr lang="es-ES"/>
            </a:defPPr>
            <a:lvl1pPr>
              <a:defRPr sz="8000" b="1">
                <a:solidFill>
                  <a:srgbClr val="F5D055"/>
                </a:solidFill>
                <a:effectLst/>
                <a:latin typeface="Bahnschrift Condensed" panose="020B0502040204020203" pitchFamily="34" charset="0"/>
                <a:ea typeface="menlo"/>
                <a:cs typeface="menlo"/>
              </a:defRPr>
            </a:lvl1pPr>
          </a:lstStyle>
          <a:p>
            <a:r>
              <a:rPr lang="es-ES" sz="4800" dirty="0">
                <a:solidFill>
                  <a:srgbClr val="C00000"/>
                </a:solidFill>
              </a:rPr>
              <a:t>Alertas rojas</a:t>
            </a:r>
          </a:p>
        </p:txBody>
      </p:sp>
    </p:spTree>
    <p:extLst>
      <p:ext uri="{BB962C8B-B14F-4D97-AF65-F5344CB8AC3E}">
        <p14:creationId xmlns:p14="http://schemas.microsoft.com/office/powerpoint/2010/main" val="4234384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EBBAFA-1E8E-7C86-4A96-C03E05008C82}"/>
              </a:ext>
            </a:extLst>
          </p:cNvPr>
          <p:cNvPicPr>
            <a:picLocks noChangeAspect="1"/>
          </p:cNvPicPr>
          <p:nvPr/>
        </p:nvPicPr>
        <p:blipFill rotWithShape="1">
          <a:blip r:embed="rId2">
            <a:extLst>
              <a:ext uri="{28A0092B-C50C-407E-A947-70E740481C1C}">
                <a14:useLocalDpi xmlns:a14="http://schemas.microsoft.com/office/drawing/2010/main" val="0"/>
              </a:ext>
            </a:extLst>
          </a:blip>
          <a:srcRect r="44687"/>
          <a:stretch/>
        </p:blipFill>
        <p:spPr>
          <a:xfrm>
            <a:off x="0" y="-635000"/>
            <a:ext cx="6743700" cy="8128000"/>
          </a:xfrm>
          <a:prstGeom prst="rect">
            <a:avLst/>
          </a:prstGeom>
        </p:spPr>
      </p:pic>
      <p:sp>
        <p:nvSpPr>
          <p:cNvPr id="15" name="TextBox 14">
            <a:extLst>
              <a:ext uri="{FF2B5EF4-FFF2-40B4-BE49-F238E27FC236}">
                <a16:creationId xmlns:a16="http://schemas.microsoft.com/office/drawing/2014/main" id="{FCBD5F09-39B9-7824-FD11-42BAE7F39154}"/>
              </a:ext>
            </a:extLst>
          </p:cNvPr>
          <p:cNvSpPr txBox="1"/>
          <p:nvPr/>
        </p:nvSpPr>
        <p:spPr>
          <a:xfrm>
            <a:off x="6191250" y="1707763"/>
            <a:ext cx="3884108" cy="830997"/>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pPr algn="r"/>
            <a:r>
              <a:rPr lang="es-ES" sz="2400" dirty="0"/>
              <a:t>EMERGENCIA</a:t>
            </a:r>
          </a:p>
          <a:p>
            <a:pPr algn="r"/>
            <a:r>
              <a:rPr lang="es-ES" sz="2400" dirty="0"/>
              <a:t>Recuperar Enero (</a:t>
            </a:r>
            <a:r>
              <a:rPr lang="es-ES" sz="2400" dirty="0">
                <a:solidFill>
                  <a:srgbClr val="FF0000"/>
                </a:solidFill>
              </a:rPr>
              <a:t>PRIORIDAD #1</a:t>
            </a:r>
            <a:r>
              <a:rPr lang="es-ES" sz="2400" dirty="0"/>
              <a:t>)</a:t>
            </a:r>
          </a:p>
        </p:txBody>
      </p:sp>
      <p:pic>
        <p:nvPicPr>
          <p:cNvPr id="6" name="Picture 5">
            <a:extLst>
              <a:ext uri="{FF2B5EF4-FFF2-40B4-BE49-F238E27FC236}">
                <a16:creationId xmlns:a16="http://schemas.microsoft.com/office/drawing/2014/main" id="{627BEBAB-30FA-F891-5B8A-DD7D5A2ED41C}"/>
              </a:ext>
            </a:extLst>
          </p:cNvPr>
          <p:cNvPicPr>
            <a:picLocks noChangeAspect="1"/>
          </p:cNvPicPr>
          <p:nvPr/>
        </p:nvPicPr>
        <p:blipFill rotWithShape="1">
          <a:blip r:embed="rId2">
            <a:extLst>
              <a:ext uri="{28A0092B-C50C-407E-A947-70E740481C1C}">
                <a14:useLocalDpi xmlns:a14="http://schemas.microsoft.com/office/drawing/2010/main" val="0"/>
              </a:ext>
            </a:extLst>
          </a:blip>
          <a:srcRect l="55313" r="-10626"/>
          <a:stretch/>
        </p:blipFill>
        <p:spPr>
          <a:xfrm>
            <a:off x="6743700" y="-635000"/>
            <a:ext cx="6743700" cy="8128000"/>
          </a:xfrm>
          <a:prstGeom prst="rect">
            <a:avLst/>
          </a:prstGeom>
        </p:spPr>
      </p:pic>
      <p:sp>
        <p:nvSpPr>
          <p:cNvPr id="5" name="TextBox 4">
            <a:extLst>
              <a:ext uri="{FF2B5EF4-FFF2-40B4-BE49-F238E27FC236}">
                <a16:creationId xmlns:a16="http://schemas.microsoft.com/office/drawing/2014/main" id="{907DCDEB-792A-6054-6FA5-72DD066A123B}"/>
              </a:ext>
            </a:extLst>
          </p:cNvPr>
          <p:cNvSpPr txBox="1"/>
          <p:nvPr/>
        </p:nvSpPr>
        <p:spPr>
          <a:xfrm>
            <a:off x="6812467" y="142007"/>
            <a:ext cx="5112488" cy="2554545"/>
          </a:xfrm>
          <a:prstGeom prst="rect">
            <a:avLst/>
          </a:prstGeom>
          <a:noFill/>
        </p:spPr>
        <p:txBody>
          <a:bodyPr wrap="square">
            <a:spAutoFit/>
          </a:bodyPr>
          <a:lstStyle>
            <a:defPPr>
              <a:defRPr lang="es-ES"/>
            </a:defPPr>
            <a:lvl1pPr>
              <a:defRPr sz="8000" b="1">
                <a:solidFill>
                  <a:srgbClr val="F5D055"/>
                </a:solidFill>
                <a:effectLst/>
                <a:latin typeface="Bahnschrift Condensed" panose="020B0502040204020203" pitchFamily="34" charset="0"/>
                <a:ea typeface="menlo"/>
                <a:cs typeface="menlo"/>
              </a:defRPr>
            </a:lvl1pPr>
          </a:lstStyle>
          <a:p>
            <a:r>
              <a:rPr lang="es-ES" dirty="0">
                <a:solidFill>
                  <a:srgbClr val="FEAF18"/>
                </a:solidFill>
              </a:rPr>
              <a:t>HALLASGOZ</a:t>
            </a:r>
          </a:p>
          <a:p>
            <a:r>
              <a:rPr lang="es-ES" dirty="0" err="1">
                <a:solidFill>
                  <a:srgbClr val="FEAF18"/>
                </a:solidFill>
              </a:rPr>
              <a:t>CRíTICOS</a:t>
            </a:r>
            <a:endParaRPr lang="es-ES" dirty="0">
              <a:solidFill>
                <a:srgbClr val="FEAF18"/>
              </a:solidFill>
            </a:endParaRPr>
          </a:p>
        </p:txBody>
      </p:sp>
      <p:sp>
        <p:nvSpPr>
          <p:cNvPr id="11" name="Rectangle 10">
            <a:extLst>
              <a:ext uri="{FF2B5EF4-FFF2-40B4-BE49-F238E27FC236}">
                <a16:creationId xmlns:a16="http://schemas.microsoft.com/office/drawing/2014/main" id="{822EB242-EA80-1BD7-31FE-6559AE002CB2}"/>
              </a:ext>
            </a:extLst>
          </p:cNvPr>
          <p:cNvSpPr/>
          <p:nvPr/>
        </p:nvSpPr>
        <p:spPr>
          <a:xfrm>
            <a:off x="0" y="2477386"/>
            <a:ext cx="12192000" cy="4380614"/>
          </a:xfrm>
          <a:prstGeom prst="rect">
            <a:avLst/>
          </a:prstGeom>
          <a:gradFill flip="none" rotWithShape="1">
            <a:gsLst>
              <a:gs pos="100000">
                <a:schemeClr val="tx1"/>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TextBox 6">
            <a:extLst>
              <a:ext uri="{FF2B5EF4-FFF2-40B4-BE49-F238E27FC236}">
                <a16:creationId xmlns:a16="http://schemas.microsoft.com/office/drawing/2014/main" id="{9A149FE2-08AC-65C2-769C-69C22D5F0216}"/>
              </a:ext>
            </a:extLst>
          </p:cNvPr>
          <p:cNvSpPr txBox="1"/>
          <p:nvPr/>
        </p:nvSpPr>
        <p:spPr>
          <a:xfrm>
            <a:off x="562117" y="5049399"/>
            <a:ext cx="3207203" cy="830997"/>
          </a:xfrm>
          <a:prstGeom prst="rect">
            <a:avLst/>
          </a:prstGeom>
          <a:noFill/>
        </p:spPr>
        <p:txBody>
          <a:bodyPr wrap="square">
            <a:spAutoFit/>
          </a:bodyPr>
          <a:lstStyle>
            <a:defPPr>
              <a:defRPr lang="es-ES"/>
            </a:defPPr>
            <a:lvl1pPr>
              <a:defRPr sz="8000" b="1">
                <a:solidFill>
                  <a:srgbClr val="F5D055"/>
                </a:solidFill>
                <a:effectLst/>
                <a:latin typeface="Bahnschrift Condensed" panose="020B0502040204020203" pitchFamily="34" charset="0"/>
                <a:ea typeface="menlo"/>
                <a:cs typeface="menlo"/>
              </a:defRPr>
            </a:lvl1pPr>
          </a:lstStyle>
          <a:p>
            <a:pPr algn="r"/>
            <a:r>
              <a:rPr lang="es-ES" sz="4800" dirty="0">
                <a:solidFill>
                  <a:srgbClr val="C00000"/>
                </a:solidFill>
              </a:rPr>
              <a:t>Alertas rojas</a:t>
            </a:r>
          </a:p>
        </p:txBody>
      </p:sp>
      <p:sp>
        <p:nvSpPr>
          <p:cNvPr id="3" name="TextBox 2">
            <a:extLst>
              <a:ext uri="{FF2B5EF4-FFF2-40B4-BE49-F238E27FC236}">
                <a16:creationId xmlns:a16="http://schemas.microsoft.com/office/drawing/2014/main" id="{FF24CB49-7CE6-EB04-5022-A86C1F1CE638}"/>
              </a:ext>
            </a:extLst>
          </p:cNvPr>
          <p:cNvSpPr txBox="1"/>
          <p:nvPr/>
        </p:nvSpPr>
        <p:spPr>
          <a:xfrm>
            <a:off x="-335589" y="-1398762"/>
            <a:ext cx="6624176" cy="3154710"/>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19900" b="1" dirty="0">
                <a:solidFill>
                  <a:schemeClr val="bg1">
                    <a:alpha val="10000"/>
                  </a:schemeClr>
                </a:solidFill>
                <a:latin typeface="Bahnschrift Condensed" panose="020B0502040204020203" pitchFamily="34" charset="0"/>
              </a:rPr>
              <a:t>IBERIA</a:t>
            </a:r>
          </a:p>
        </p:txBody>
      </p:sp>
      <p:sp>
        <p:nvSpPr>
          <p:cNvPr id="4" name="TextBox 3">
            <a:extLst>
              <a:ext uri="{FF2B5EF4-FFF2-40B4-BE49-F238E27FC236}">
                <a16:creationId xmlns:a16="http://schemas.microsoft.com/office/drawing/2014/main" id="{6E50773A-F027-AC90-64BF-39B07610A9C0}"/>
              </a:ext>
            </a:extLst>
          </p:cNvPr>
          <p:cNvSpPr txBox="1"/>
          <p:nvPr/>
        </p:nvSpPr>
        <p:spPr>
          <a:xfrm>
            <a:off x="3988395" y="4626280"/>
            <a:ext cx="8603512" cy="1697068"/>
          </a:xfrm>
          <a:prstGeom prst="rect">
            <a:avLst/>
          </a:prstGeom>
          <a:noFill/>
        </p:spPr>
        <p:txBody>
          <a:bodyPr wrap="square">
            <a:spAutoFit/>
          </a:bodyPr>
          <a:lstStyle>
            <a:defPPr>
              <a:defRPr lang="es-ES"/>
            </a:defPPr>
            <a:lvl1pPr lvl="0">
              <a:lnSpc>
                <a:spcPct val="150000"/>
              </a:lnSpc>
              <a:spcBef>
                <a:spcPts val="525"/>
              </a:spcBef>
              <a:spcAft>
                <a:spcPts val="525"/>
              </a:spcAft>
              <a:tabLst>
                <a:tab pos="571500" algn="l"/>
              </a:tabLst>
              <a:defRPr sz="2400">
                <a:solidFill>
                  <a:srgbClr val="8FB9E7"/>
                </a:solidFill>
                <a:latin typeface="Calibri" panose="020F0502020204030204" pitchFamily="34" charset="0"/>
                <a:ea typeface="Calibri" panose="020F0502020204030204" pitchFamily="34" charset="0"/>
                <a:cs typeface="Times New Roman" panose="02020603050405020304" pitchFamily="18" charset="0"/>
              </a:defRPr>
            </a:lvl1pPr>
          </a:lstStyle>
          <a:p>
            <a:r>
              <a:rPr lang="es-ES" dirty="0"/>
              <a:t>Alta </a:t>
            </a:r>
            <a:r>
              <a:rPr lang="es-ES" dirty="0">
                <a:solidFill>
                  <a:srgbClr val="FEAF18"/>
                </a:solidFill>
              </a:rPr>
              <a:t>dependencia</a:t>
            </a:r>
            <a:r>
              <a:rPr lang="es-ES" dirty="0"/>
              <a:t> del canal Mayorista.</a:t>
            </a:r>
            <a:br>
              <a:rPr lang="es-ES" dirty="0"/>
            </a:br>
            <a:r>
              <a:rPr lang="es-ES" dirty="0"/>
              <a:t>Riesgo de </a:t>
            </a:r>
            <a:r>
              <a:rPr lang="es-ES" dirty="0">
                <a:solidFill>
                  <a:srgbClr val="FEAF18"/>
                </a:solidFill>
              </a:rPr>
              <a:t>concentración</a:t>
            </a:r>
            <a:r>
              <a:rPr lang="es-ES" dirty="0"/>
              <a:t> por cliente, producto o canal.</a:t>
            </a:r>
            <a:br>
              <a:rPr lang="es-ES" dirty="0"/>
            </a:br>
            <a:r>
              <a:rPr lang="es-ES" dirty="0"/>
              <a:t>Señales de </a:t>
            </a:r>
            <a:r>
              <a:rPr lang="es-ES" dirty="0">
                <a:solidFill>
                  <a:srgbClr val="FEAF18"/>
                </a:solidFill>
              </a:rPr>
              <a:t>retraso</a:t>
            </a:r>
            <a:r>
              <a:rPr lang="es-ES" dirty="0"/>
              <a:t> y </a:t>
            </a:r>
            <a:r>
              <a:rPr lang="es-ES" dirty="0">
                <a:solidFill>
                  <a:srgbClr val="FEAF18"/>
                </a:solidFill>
              </a:rPr>
              <a:t>variabilidad operativa </a:t>
            </a:r>
            <a:r>
              <a:rPr lang="es-ES" dirty="0"/>
              <a:t>en algunos pedidos.</a:t>
            </a:r>
          </a:p>
        </p:txBody>
      </p:sp>
      <p:sp>
        <p:nvSpPr>
          <p:cNvPr id="14" name="TextBox 13">
            <a:extLst>
              <a:ext uri="{FF2B5EF4-FFF2-40B4-BE49-F238E27FC236}">
                <a16:creationId xmlns:a16="http://schemas.microsoft.com/office/drawing/2014/main" id="{A56B9F67-B275-9E6B-C4F6-0DADAA2AFC29}"/>
              </a:ext>
            </a:extLst>
          </p:cNvPr>
          <p:cNvSpPr txBox="1"/>
          <p:nvPr/>
        </p:nvSpPr>
        <p:spPr>
          <a:xfrm>
            <a:off x="12178300" y="147199"/>
            <a:ext cx="4112142" cy="2554545"/>
          </a:xfrm>
          <a:prstGeom prst="rect">
            <a:avLst/>
          </a:prstGeom>
          <a:noFill/>
        </p:spPr>
        <p:txBody>
          <a:bodyPr wrap="square">
            <a:spAutoFit/>
          </a:bodyPr>
          <a:lstStyle>
            <a:defPPr>
              <a:defRPr lang="es-ES"/>
            </a:defPPr>
            <a:lvl1pPr>
              <a:defRPr sz="8000" b="1">
                <a:solidFill>
                  <a:schemeClr val="bg1"/>
                </a:solidFill>
                <a:effectLst/>
                <a:latin typeface="Bahnschrift Condensed" panose="020B0502040204020203" pitchFamily="34" charset="0"/>
                <a:ea typeface="menlo"/>
                <a:cs typeface="menlo"/>
              </a:defRPr>
            </a:lvl1pPr>
          </a:lstStyle>
          <a:p>
            <a:r>
              <a:rPr lang="es-ES" dirty="0">
                <a:solidFill>
                  <a:srgbClr val="FEAF18"/>
                </a:solidFill>
              </a:rPr>
              <a:t>VISTAZO</a:t>
            </a:r>
          </a:p>
          <a:p>
            <a:r>
              <a:rPr lang="es-ES" dirty="0">
                <a:solidFill>
                  <a:srgbClr val="FEAF18"/>
                </a:solidFill>
              </a:rPr>
              <a:t>EJECUTIVO</a:t>
            </a:r>
          </a:p>
        </p:txBody>
      </p:sp>
      <p:sp>
        <p:nvSpPr>
          <p:cNvPr id="16" name="TextBox 15">
            <a:extLst>
              <a:ext uri="{FF2B5EF4-FFF2-40B4-BE49-F238E27FC236}">
                <a16:creationId xmlns:a16="http://schemas.microsoft.com/office/drawing/2014/main" id="{1F55A1FF-A202-80E2-9502-E5AB02FE8EB5}"/>
              </a:ext>
            </a:extLst>
          </p:cNvPr>
          <p:cNvSpPr txBox="1"/>
          <p:nvPr/>
        </p:nvSpPr>
        <p:spPr>
          <a:xfrm>
            <a:off x="12179895" y="4626280"/>
            <a:ext cx="6917730" cy="1694631"/>
          </a:xfrm>
          <a:prstGeom prst="rect">
            <a:avLst/>
          </a:prstGeom>
          <a:noFill/>
        </p:spPr>
        <p:txBody>
          <a:bodyPr wrap="square">
            <a:spAutoFit/>
          </a:bodyPr>
          <a:lstStyle>
            <a:defPPr>
              <a:defRPr lang="es-ES"/>
            </a:defPPr>
            <a:lvl1pPr lvl="0">
              <a:lnSpc>
                <a:spcPct val="150000"/>
              </a:lnSpc>
              <a:spcBef>
                <a:spcPts val="525"/>
              </a:spcBef>
              <a:spcAft>
                <a:spcPts val="525"/>
              </a:spcAft>
              <a:tabLst>
                <a:tab pos="571500" algn="l"/>
              </a:tabLst>
              <a:defRPr sz="2400">
                <a:solidFill>
                  <a:srgbClr val="8FB9E7"/>
                </a:solidFill>
                <a:latin typeface="Calibri" panose="020F0502020204030204" pitchFamily="34" charset="0"/>
                <a:ea typeface="Calibri" panose="020F0502020204030204" pitchFamily="34" charset="0"/>
                <a:cs typeface="Times New Roman" panose="02020603050405020304" pitchFamily="18" charset="0"/>
              </a:defRPr>
            </a:lvl1pPr>
          </a:lstStyle>
          <a:p>
            <a:r>
              <a:rPr lang="es-ES" dirty="0"/>
              <a:t>¿Qué pasó en Enero 773k€? </a:t>
            </a:r>
            <a:br>
              <a:rPr lang="es-ES" dirty="0"/>
            </a:br>
            <a:r>
              <a:rPr lang="es-ES" dirty="0"/>
              <a:t>¿Por qué colapsó -95%? </a:t>
            </a:r>
            <a:br>
              <a:rPr lang="es-ES" dirty="0"/>
            </a:br>
            <a:r>
              <a:rPr lang="es-ES" dirty="0"/>
              <a:t>¿Mayorista Levante SL sigue activo?</a:t>
            </a:r>
          </a:p>
        </p:txBody>
      </p:sp>
    </p:spTree>
    <p:extLst>
      <p:ext uri="{BB962C8B-B14F-4D97-AF65-F5344CB8AC3E}">
        <p14:creationId xmlns:p14="http://schemas.microsoft.com/office/powerpoint/2010/main" val="1238581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2.08333E-6 1.11111E-6 L 0.30833 -0.00023 " pathEditMode="relative" rAng="0" ptsTypes="AA">
                                      <p:cBhvr>
                                        <p:cTn id="6" dur="1500" fill="hold"/>
                                        <p:tgtEl>
                                          <p:spTgt spid="14"/>
                                        </p:tgtEl>
                                        <p:attrNameLst>
                                          <p:attrName>ppt_x</p:attrName>
                                          <p:attrName>ppt_y</p:attrName>
                                        </p:attrNameLst>
                                      </p:cBhvr>
                                      <p:rCtr x="15417"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EBBAFA-1E8E-7C86-4A96-C03E05008C82}"/>
              </a:ext>
            </a:extLst>
          </p:cNvPr>
          <p:cNvPicPr>
            <a:picLocks noChangeAspect="1"/>
          </p:cNvPicPr>
          <p:nvPr/>
        </p:nvPicPr>
        <p:blipFill rotWithShape="1">
          <a:blip r:embed="rId2">
            <a:extLst>
              <a:ext uri="{28A0092B-C50C-407E-A947-70E740481C1C}">
                <a14:useLocalDpi xmlns:a14="http://schemas.microsoft.com/office/drawing/2010/main" val="0"/>
              </a:ext>
            </a:extLst>
          </a:blip>
          <a:srcRect r="44687"/>
          <a:stretch/>
        </p:blipFill>
        <p:spPr>
          <a:xfrm>
            <a:off x="0" y="-635000"/>
            <a:ext cx="6743700" cy="8128000"/>
          </a:xfrm>
          <a:prstGeom prst="rect">
            <a:avLst/>
          </a:prstGeom>
        </p:spPr>
      </p:pic>
      <p:sp>
        <p:nvSpPr>
          <p:cNvPr id="9" name="TextBox 8">
            <a:extLst>
              <a:ext uri="{FF2B5EF4-FFF2-40B4-BE49-F238E27FC236}">
                <a16:creationId xmlns:a16="http://schemas.microsoft.com/office/drawing/2014/main" id="{4927B1DC-D0A4-356B-A910-253953F755B9}"/>
              </a:ext>
            </a:extLst>
          </p:cNvPr>
          <p:cNvSpPr txBox="1"/>
          <p:nvPr/>
        </p:nvSpPr>
        <p:spPr>
          <a:xfrm>
            <a:off x="2743200" y="1707763"/>
            <a:ext cx="3884108" cy="830997"/>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pPr algn="r"/>
            <a:r>
              <a:rPr lang="es-ES" sz="2400" dirty="0"/>
              <a:t>EMERGENCIA</a:t>
            </a:r>
          </a:p>
          <a:p>
            <a:pPr algn="r"/>
            <a:r>
              <a:rPr lang="es-ES" sz="2400" dirty="0"/>
              <a:t>Recuperar Enero (</a:t>
            </a:r>
            <a:r>
              <a:rPr lang="es-ES" sz="2400" dirty="0">
                <a:solidFill>
                  <a:srgbClr val="FF0000"/>
                </a:solidFill>
              </a:rPr>
              <a:t>PRIORIDAD #1</a:t>
            </a:r>
            <a:r>
              <a:rPr lang="es-ES" sz="2400" dirty="0"/>
              <a:t>)</a:t>
            </a:r>
          </a:p>
        </p:txBody>
      </p:sp>
      <p:pic>
        <p:nvPicPr>
          <p:cNvPr id="6" name="Picture 5">
            <a:extLst>
              <a:ext uri="{FF2B5EF4-FFF2-40B4-BE49-F238E27FC236}">
                <a16:creationId xmlns:a16="http://schemas.microsoft.com/office/drawing/2014/main" id="{627BEBAB-30FA-F891-5B8A-DD7D5A2ED41C}"/>
              </a:ext>
            </a:extLst>
          </p:cNvPr>
          <p:cNvPicPr>
            <a:picLocks noChangeAspect="1"/>
          </p:cNvPicPr>
          <p:nvPr/>
        </p:nvPicPr>
        <p:blipFill rotWithShape="1">
          <a:blip r:embed="rId2">
            <a:extLst>
              <a:ext uri="{28A0092B-C50C-407E-A947-70E740481C1C}">
                <a14:useLocalDpi xmlns:a14="http://schemas.microsoft.com/office/drawing/2010/main" val="0"/>
              </a:ext>
            </a:extLst>
          </a:blip>
          <a:srcRect l="55313" r="-10626"/>
          <a:stretch/>
        </p:blipFill>
        <p:spPr>
          <a:xfrm>
            <a:off x="6743700" y="-635000"/>
            <a:ext cx="6743700" cy="8128000"/>
          </a:xfrm>
          <a:prstGeom prst="rect">
            <a:avLst/>
          </a:prstGeom>
        </p:spPr>
      </p:pic>
      <p:sp>
        <p:nvSpPr>
          <p:cNvPr id="5" name="TextBox 4">
            <a:extLst>
              <a:ext uri="{FF2B5EF4-FFF2-40B4-BE49-F238E27FC236}">
                <a16:creationId xmlns:a16="http://schemas.microsoft.com/office/drawing/2014/main" id="{907DCDEB-792A-6054-6FA5-72DD066A123B}"/>
              </a:ext>
            </a:extLst>
          </p:cNvPr>
          <p:cNvSpPr txBox="1"/>
          <p:nvPr/>
        </p:nvSpPr>
        <p:spPr>
          <a:xfrm>
            <a:off x="6812467" y="142007"/>
            <a:ext cx="5112488" cy="2554545"/>
          </a:xfrm>
          <a:prstGeom prst="rect">
            <a:avLst/>
          </a:prstGeom>
          <a:noFill/>
        </p:spPr>
        <p:txBody>
          <a:bodyPr wrap="square">
            <a:spAutoFit/>
          </a:bodyPr>
          <a:lstStyle>
            <a:defPPr>
              <a:defRPr lang="es-ES"/>
            </a:defPPr>
            <a:lvl1pPr>
              <a:defRPr sz="8000" b="1">
                <a:solidFill>
                  <a:srgbClr val="F5D055"/>
                </a:solidFill>
                <a:effectLst/>
                <a:latin typeface="Bahnschrift Condensed" panose="020B0502040204020203" pitchFamily="34" charset="0"/>
                <a:ea typeface="menlo"/>
                <a:cs typeface="menlo"/>
              </a:defRPr>
            </a:lvl1pPr>
          </a:lstStyle>
          <a:p>
            <a:r>
              <a:rPr lang="es-ES" dirty="0">
                <a:solidFill>
                  <a:srgbClr val="FEAF18"/>
                </a:solidFill>
              </a:rPr>
              <a:t>HALLASGOZ</a:t>
            </a:r>
          </a:p>
          <a:p>
            <a:r>
              <a:rPr lang="es-ES" dirty="0" err="1">
                <a:solidFill>
                  <a:srgbClr val="FEAF18"/>
                </a:solidFill>
              </a:rPr>
              <a:t>CRíTICOS</a:t>
            </a:r>
            <a:endParaRPr lang="es-ES" dirty="0">
              <a:solidFill>
                <a:srgbClr val="FEAF18"/>
              </a:solidFill>
            </a:endParaRPr>
          </a:p>
        </p:txBody>
      </p:sp>
      <p:sp>
        <p:nvSpPr>
          <p:cNvPr id="11" name="Rectangle 10">
            <a:extLst>
              <a:ext uri="{FF2B5EF4-FFF2-40B4-BE49-F238E27FC236}">
                <a16:creationId xmlns:a16="http://schemas.microsoft.com/office/drawing/2014/main" id="{822EB242-EA80-1BD7-31FE-6559AE002CB2}"/>
              </a:ext>
            </a:extLst>
          </p:cNvPr>
          <p:cNvSpPr/>
          <p:nvPr/>
        </p:nvSpPr>
        <p:spPr>
          <a:xfrm>
            <a:off x="0" y="2477386"/>
            <a:ext cx="12192000" cy="4380614"/>
          </a:xfrm>
          <a:prstGeom prst="rect">
            <a:avLst/>
          </a:prstGeom>
          <a:gradFill flip="none" rotWithShape="1">
            <a:gsLst>
              <a:gs pos="100000">
                <a:schemeClr val="tx1"/>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TextBox 2">
            <a:extLst>
              <a:ext uri="{FF2B5EF4-FFF2-40B4-BE49-F238E27FC236}">
                <a16:creationId xmlns:a16="http://schemas.microsoft.com/office/drawing/2014/main" id="{FF24CB49-7CE6-EB04-5022-A86C1F1CE638}"/>
              </a:ext>
            </a:extLst>
          </p:cNvPr>
          <p:cNvSpPr txBox="1"/>
          <p:nvPr/>
        </p:nvSpPr>
        <p:spPr>
          <a:xfrm>
            <a:off x="-335589" y="-1398762"/>
            <a:ext cx="6624176" cy="3154710"/>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19900" b="1" dirty="0">
                <a:solidFill>
                  <a:schemeClr val="bg1">
                    <a:alpha val="10000"/>
                  </a:schemeClr>
                </a:solidFill>
                <a:latin typeface="Bahnschrift Condensed" panose="020B0502040204020203" pitchFamily="34" charset="0"/>
              </a:rPr>
              <a:t>IBERIA</a:t>
            </a:r>
          </a:p>
        </p:txBody>
      </p:sp>
      <p:sp>
        <p:nvSpPr>
          <p:cNvPr id="4" name="TextBox 3">
            <a:extLst>
              <a:ext uri="{FF2B5EF4-FFF2-40B4-BE49-F238E27FC236}">
                <a16:creationId xmlns:a16="http://schemas.microsoft.com/office/drawing/2014/main" id="{6E50773A-F027-AC90-64BF-39B07610A9C0}"/>
              </a:ext>
            </a:extLst>
          </p:cNvPr>
          <p:cNvSpPr txBox="1"/>
          <p:nvPr/>
        </p:nvSpPr>
        <p:spPr>
          <a:xfrm>
            <a:off x="3988395" y="4626280"/>
            <a:ext cx="6917730" cy="1694631"/>
          </a:xfrm>
          <a:prstGeom prst="rect">
            <a:avLst/>
          </a:prstGeom>
          <a:noFill/>
        </p:spPr>
        <p:txBody>
          <a:bodyPr wrap="square">
            <a:spAutoFit/>
          </a:bodyPr>
          <a:lstStyle>
            <a:defPPr>
              <a:defRPr lang="es-ES"/>
            </a:defPPr>
            <a:lvl1pPr lvl="0">
              <a:lnSpc>
                <a:spcPct val="150000"/>
              </a:lnSpc>
              <a:spcBef>
                <a:spcPts val="525"/>
              </a:spcBef>
              <a:spcAft>
                <a:spcPts val="525"/>
              </a:spcAft>
              <a:tabLst>
                <a:tab pos="571500" algn="l"/>
              </a:tabLst>
              <a:defRPr sz="2400">
                <a:solidFill>
                  <a:srgbClr val="8FB9E7"/>
                </a:solidFill>
                <a:latin typeface="Calibri" panose="020F0502020204030204" pitchFamily="34" charset="0"/>
                <a:ea typeface="Calibri" panose="020F0502020204030204" pitchFamily="34" charset="0"/>
                <a:cs typeface="Times New Roman" panose="02020603050405020304" pitchFamily="18" charset="0"/>
              </a:defRPr>
            </a:lvl1pPr>
          </a:lstStyle>
          <a:p>
            <a:r>
              <a:rPr lang="es-ES" dirty="0"/>
              <a:t>¿</a:t>
            </a:r>
            <a:r>
              <a:rPr lang="es-ES" dirty="0">
                <a:solidFill>
                  <a:srgbClr val="FEAF18"/>
                </a:solidFill>
              </a:rPr>
              <a:t>Qué pasó </a:t>
            </a:r>
            <a:r>
              <a:rPr lang="es-ES" dirty="0"/>
              <a:t>en Enero 773k€? </a:t>
            </a:r>
            <a:br>
              <a:rPr lang="es-ES" dirty="0"/>
            </a:br>
            <a:r>
              <a:rPr lang="es-ES" dirty="0"/>
              <a:t>¿</a:t>
            </a:r>
            <a:r>
              <a:rPr lang="es-ES" dirty="0">
                <a:solidFill>
                  <a:srgbClr val="FEAF18"/>
                </a:solidFill>
              </a:rPr>
              <a:t>Por qué </a:t>
            </a:r>
            <a:r>
              <a:rPr lang="es-ES" dirty="0"/>
              <a:t>colapsó -95%? </a:t>
            </a:r>
            <a:br>
              <a:rPr lang="es-ES" dirty="0"/>
            </a:br>
            <a:r>
              <a:rPr lang="es-ES" dirty="0"/>
              <a:t>¿Mayorista Levante SL sigue activo?</a:t>
            </a:r>
          </a:p>
        </p:txBody>
      </p:sp>
      <p:sp>
        <p:nvSpPr>
          <p:cNvPr id="10" name="TextBox 9">
            <a:extLst>
              <a:ext uri="{FF2B5EF4-FFF2-40B4-BE49-F238E27FC236}">
                <a16:creationId xmlns:a16="http://schemas.microsoft.com/office/drawing/2014/main" id="{DDA64C9E-DED6-6D9F-2F41-7EF150C511BC}"/>
              </a:ext>
            </a:extLst>
          </p:cNvPr>
          <p:cNvSpPr txBox="1"/>
          <p:nvPr/>
        </p:nvSpPr>
        <p:spPr>
          <a:xfrm>
            <a:off x="12246570" y="4626280"/>
            <a:ext cx="8603512" cy="1697068"/>
          </a:xfrm>
          <a:prstGeom prst="rect">
            <a:avLst/>
          </a:prstGeom>
          <a:noFill/>
        </p:spPr>
        <p:txBody>
          <a:bodyPr wrap="square">
            <a:spAutoFit/>
          </a:bodyPr>
          <a:lstStyle>
            <a:defPPr>
              <a:defRPr lang="es-ES"/>
            </a:defPPr>
            <a:lvl1pPr lvl="0">
              <a:lnSpc>
                <a:spcPct val="150000"/>
              </a:lnSpc>
              <a:spcBef>
                <a:spcPts val="525"/>
              </a:spcBef>
              <a:spcAft>
                <a:spcPts val="525"/>
              </a:spcAft>
              <a:tabLst>
                <a:tab pos="571500" algn="l"/>
              </a:tabLst>
              <a:defRPr sz="2400">
                <a:solidFill>
                  <a:srgbClr val="8FB9E7"/>
                </a:solidFill>
                <a:latin typeface="Calibri" panose="020F0502020204030204" pitchFamily="34" charset="0"/>
                <a:ea typeface="Calibri" panose="020F0502020204030204" pitchFamily="34" charset="0"/>
                <a:cs typeface="Times New Roman" panose="02020603050405020304" pitchFamily="18" charset="0"/>
              </a:defRPr>
            </a:lvl1pPr>
          </a:lstStyle>
          <a:p>
            <a:r>
              <a:rPr lang="es-ES" dirty="0"/>
              <a:t>Alta </a:t>
            </a:r>
            <a:r>
              <a:rPr lang="es-ES" dirty="0">
                <a:solidFill>
                  <a:srgbClr val="FEAF18"/>
                </a:solidFill>
              </a:rPr>
              <a:t>dependencia</a:t>
            </a:r>
            <a:r>
              <a:rPr lang="es-ES" dirty="0"/>
              <a:t> del canal Mayorista.</a:t>
            </a:r>
            <a:br>
              <a:rPr lang="es-ES" dirty="0"/>
            </a:br>
            <a:r>
              <a:rPr lang="es-ES" dirty="0"/>
              <a:t>Riesgo de </a:t>
            </a:r>
            <a:r>
              <a:rPr lang="es-ES" dirty="0">
                <a:solidFill>
                  <a:srgbClr val="FEAF18"/>
                </a:solidFill>
              </a:rPr>
              <a:t>concentración</a:t>
            </a:r>
            <a:r>
              <a:rPr lang="es-ES" dirty="0"/>
              <a:t> por cliente, producto o canal.</a:t>
            </a:r>
            <a:br>
              <a:rPr lang="es-ES" dirty="0"/>
            </a:br>
            <a:r>
              <a:rPr lang="es-ES" dirty="0"/>
              <a:t>Señales de </a:t>
            </a:r>
            <a:r>
              <a:rPr lang="es-ES" dirty="0">
                <a:solidFill>
                  <a:srgbClr val="FEAF18"/>
                </a:solidFill>
              </a:rPr>
              <a:t>retraso</a:t>
            </a:r>
            <a:r>
              <a:rPr lang="es-ES" dirty="0"/>
              <a:t> y </a:t>
            </a:r>
            <a:r>
              <a:rPr lang="es-ES" dirty="0">
                <a:solidFill>
                  <a:srgbClr val="FEAF18"/>
                </a:solidFill>
              </a:rPr>
              <a:t>variabilidad operativa </a:t>
            </a:r>
            <a:r>
              <a:rPr lang="es-ES" dirty="0"/>
              <a:t>en algunos pedidos.</a:t>
            </a:r>
          </a:p>
        </p:txBody>
      </p:sp>
      <p:sp>
        <p:nvSpPr>
          <p:cNvPr id="13" name="TextBox 12">
            <a:extLst>
              <a:ext uri="{FF2B5EF4-FFF2-40B4-BE49-F238E27FC236}">
                <a16:creationId xmlns:a16="http://schemas.microsoft.com/office/drawing/2014/main" id="{498AA2FC-DC70-AC9B-9059-0ADBB5391417}"/>
              </a:ext>
            </a:extLst>
          </p:cNvPr>
          <p:cNvSpPr txBox="1"/>
          <p:nvPr/>
        </p:nvSpPr>
        <p:spPr>
          <a:xfrm>
            <a:off x="562117" y="5049399"/>
            <a:ext cx="3207203" cy="830997"/>
          </a:xfrm>
          <a:prstGeom prst="rect">
            <a:avLst/>
          </a:prstGeom>
          <a:noFill/>
        </p:spPr>
        <p:txBody>
          <a:bodyPr wrap="square">
            <a:spAutoFit/>
          </a:bodyPr>
          <a:lstStyle>
            <a:defPPr>
              <a:defRPr lang="es-ES"/>
            </a:defPPr>
            <a:lvl1pPr>
              <a:defRPr sz="8000" b="1">
                <a:solidFill>
                  <a:srgbClr val="F5D055"/>
                </a:solidFill>
                <a:effectLst/>
                <a:latin typeface="Bahnschrift Condensed" panose="020B0502040204020203" pitchFamily="34" charset="0"/>
                <a:ea typeface="menlo"/>
                <a:cs typeface="menlo"/>
              </a:defRPr>
            </a:lvl1pPr>
          </a:lstStyle>
          <a:p>
            <a:pPr algn="r"/>
            <a:r>
              <a:rPr lang="es-ES" sz="4800" dirty="0">
                <a:solidFill>
                  <a:srgbClr val="C00000"/>
                </a:solidFill>
              </a:rPr>
              <a:t>Alertas rojas</a:t>
            </a:r>
          </a:p>
        </p:txBody>
      </p:sp>
      <p:sp>
        <p:nvSpPr>
          <p:cNvPr id="15" name="TextBox 14">
            <a:extLst>
              <a:ext uri="{FF2B5EF4-FFF2-40B4-BE49-F238E27FC236}">
                <a16:creationId xmlns:a16="http://schemas.microsoft.com/office/drawing/2014/main" id="{766CC063-5825-4284-3590-0C74610A7B26}"/>
              </a:ext>
            </a:extLst>
          </p:cNvPr>
          <p:cNvSpPr txBox="1"/>
          <p:nvPr/>
        </p:nvSpPr>
        <p:spPr>
          <a:xfrm>
            <a:off x="12221395" y="5437453"/>
            <a:ext cx="7838255" cy="1295868"/>
          </a:xfrm>
          <a:prstGeom prst="rect">
            <a:avLst/>
          </a:prstGeom>
          <a:noFill/>
        </p:spPr>
        <p:txBody>
          <a:bodyPr wrap="square">
            <a:spAutoFit/>
          </a:bodyPr>
          <a:lstStyle>
            <a:defPPr>
              <a:defRPr lang="es-ES"/>
            </a:defPPr>
            <a:lvl1pPr lvl="0">
              <a:lnSpc>
                <a:spcPct val="150000"/>
              </a:lnSpc>
              <a:spcBef>
                <a:spcPts val="525"/>
              </a:spcBef>
              <a:spcAft>
                <a:spcPts val="525"/>
              </a:spcAft>
              <a:tabLst>
                <a:tab pos="571500" algn="l"/>
              </a:tabLst>
              <a:defRPr sz="2400">
                <a:solidFill>
                  <a:srgbClr val="8FB9E7"/>
                </a:solidFill>
                <a:latin typeface="Calibri" panose="020F0502020204030204" pitchFamily="34" charset="0"/>
                <a:ea typeface="Calibri" panose="020F0502020204030204" pitchFamily="34" charset="0"/>
                <a:cs typeface="Times New Roman" panose="02020603050405020304" pitchFamily="18" charset="0"/>
              </a:defRPr>
            </a:lvl1pPr>
          </a:lstStyle>
          <a:p>
            <a:r>
              <a:rPr lang="es-ES" sz="1800" dirty="0"/>
              <a:t>Tener en punta de mira y análisis a Mayorista Levante SL y Tienda Barrio Sur porque ellos son los principales Clientes, poseyendo el 11,15% y 10,2% de las operaciones de Iberia </a:t>
            </a:r>
            <a:r>
              <a:rPr lang="es-ES" sz="1800" dirty="0" err="1"/>
              <a:t>Mallorista</a:t>
            </a:r>
            <a:endParaRPr lang="es-ES" sz="1800" dirty="0"/>
          </a:p>
        </p:txBody>
      </p:sp>
      <p:graphicFrame>
        <p:nvGraphicFramePr>
          <p:cNvPr id="16" name="Table 15">
            <a:extLst>
              <a:ext uri="{FF2B5EF4-FFF2-40B4-BE49-F238E27FC236}">
                <a16:creationId xmlns:a16="http://schemas.microsoft.com/office/drawing/2014/main" id="{CA10ABF5-E9DA-9A61-2742-5BD5A8258000}"/>
              </a:ext>
            </a:extLst>
          </p:cNvPr>
          <p:cNvGraphicFramePr>
            <a:graphicFrameLocks noGrp="1"/>
          </p:cNvGraphicFramePr>
          <p:nvPr>
            <p:extLst>
              <p:ext uri="{D42A27DB-BD31-4B8C-83A1-F6EECF244321}">
                <p14:modId xmlns:p14="http://schemas.microsoft.com/office/powerpoint/2010/main" val="612366365"/>
              </p:ext>
            </p:extLst>
          </p:nvPr>
        </p:nvGraphicFramePr>
        <p:xfrm>
          <a:off x="12313786" y="4010872"/>
          <a:ext cx="7250563" cy="1315390"/>
        </p:xfrm>
        <a:graphic>
          <a:graphicData uri="http://schemas.openxmlformats.org/drawingml/2006/table">
            <a:tbl>
              <a:tblPr>
                <a:tableStyleId>{F5AB1C69-6EDB-4FF4-983F-18BD219EF322}</a:tableStyleId>
              </a:tblPr>
              <a:tblGrid>
                <a:gridCol w="2742010">
                  <a:extLst>
                    <a:ext uri="{9D8B030D-6E8A-4147-A177-3AD203B41FA5}">
                      <a16:colId xmlns:a16="http://schemas.microsoft.com/office/drawing/2014/main" val="767257243"/>
                    </a:ext>
                  </a:extLst>
                </a:gridCol>
                <a:gridCol w="2244185">
                  <a:extLst>
                    <a:ext uri="{9D8B030D-6E8A-4147-A177-3AD203B41FA5}">
                      <a16:colId xmlns:a16="http://schemas.microsoft.com/office/drawing/2014/main" val="2526823521"/>
                    </a:ext>
                  </a:extLst>
                </a:gridCol>
                <a:gridCol w="933450">
                  <a:extLst>
                    <a:ext uri="{9D8B030D-6E8A-4147-A177-3AD203B41FA5}">
                      <a16:colId xmlns:a16="http://schemas.microsoft.com/office/drawing/2014/main" val="2921279272"/>
                    </a:ext>
                  </a:extLst>
                </a:gridCol>
                <a:gridCol w="1330918">
                  <a:extLst>
                    <a:ext uri="{9D8B030D-6E8A-4147-A177-3AD203B41FA5}">
                      <a16:colId xmlns:a16="http://schemas.microsoft.com/office/drawing/2014/main" val="1543447804"/>
                    </a:ext>
                  </a:extLst>
                </a:gridCol>
              </a:tblGrid>
              <a:tr h="264323">
                <a:tc>
                  <a:txBody>
                    <a:bodyPr/>
                    <a:lstStyle/>
                    <a:p>
                      <a:pPr algn="l" fontAlgn="b"/>
                      <a:r>
                        <a:rPr lang="es-ES" sz="1800" u="none" strike="noStrike" dirty="0" err="1">
                          <a:solidFill>
                            <a:schemeClr val="bg1"/>
                          </a:solidFill>
                          <a:effectLst/>
                        </a:rPr>
                        <a:t>NombreCliente</a:t>
                      </a:r>
                      <a:endParaRPr lang="es-ES" sz="1800" b="0" i="0" u="none" strike="noStrike" dirty="0">
                        <a:solidFill>
                          <a:schemeClr val="bg1"/>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800" u="none" strike="noStrike" dirty="0">
                          <a:solidFill>
                            <a:schemeClr val="bg1"/>
                          </a:solidFill>
                          <a:effectLst/>
                        </a:rPr>
                        <a:t>Segmento</a:t>
                      </a:r>
                      <a:endParaRPr lang="es-ES" sz="1800" b="0" i="0" u="none" strike="noStrike" dirty="0">
                        <a:solidFill>
                          <a:schemeClr val="bg1"/>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800" u="none" strike="noStrike" kern="1200" dirty="0">
                          <a:solidFill>
                            <a:schemeClr val="bg1"/>
                          </a:solidFill>
                          <a:effectLst/>
                          <a:latin typeface="+mn-lt"/>
                          <a:ea typeface="+mn-ea"/>
                          <a:cs typeface="+mn-cs"/>
                        </a:rPr>
                        <a:t>Ventas</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800" u="none" strike="noStrike" kern="1200" dirty="0" err="1">
                          <a:solidFill>
                            <a:schemeClr val="bg1"/>
                          </a:solidFill>
                          <a:effectLst/>
                          <a:latin typeface="+mn-lt"/>
                          <a:ea typeface="+mn-ea"/>
                          <a:cs typeface="+mn-cs"/>
                        </a:rPr>
                        <a:t>NumVentas</a:t>
                      </a:r>
                      <a:endParaRPr lang="es-ES" sz="1800" u="none" strike="noStrike" kern="1200" dirty="0">
                        <a:solidFill>
                          <a:schemeClr val="bg1"/>
                        </a:solidFill>
                        <a:effectLst/>
                        <a:latin typeface="+mn-lt"/>
                        <a:ea typeface="+mn-ea"/>
                        <a:cs typeface="+mn-cs"/>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1565195418"/>
                  </a:ext>
                </a:extLst>
              </a:tr>
              <a:tr h="206309">
                <a:tc>
                  <a:txBody>
                    <a:bodyPr/>
                    <a:lstStyle/>
                    <a:p>
                      <a:pPr algn="l" fontAlgn="b"/>
                      <a:r>
                        <a:rPr lang="es-ES" sz="1200" u="none" strike="noStrike" dirty="0">
                          <a:solidFill>
                            <a:srgbClr val="FFC000"/>
                          </a:solidFill>
                          <a:effectLst/>
                        </a:rPr>
                        <a:t>Mayorista Levante SL</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200" u="none" strike="noStrike" dirty="0">
                          <a:solidFill>
                            <a:srgbClr val="FFC000"/>
                          </a:solidFill>
                          <a:effectLst/>
                        </a:rPr>
                        <a:t>Mayorista</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FC000"/>
                          </a:solidFill>
                          <a:effectLst/>
                        </a:rPr>
                        <a:t>216645</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FC000"/>
                          </a:solidFill>
                          <a:effectLst/>
                        </a:rPr>
                        <a:t>3</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783262360"/>
                  </a:ext>
                </a:extLst>
              </a:tr>
              <a:tr h="206309">
                <a:tc>
                  <a:txBody>
                    <a:bodyPr/>
                    <a:lstStyle/>
                    <a:p>
                      <a:pPr algn="l" fontAlgn="b"/>
                      <a:r>
                        <a:rPr lang="es-ES" sz="1200" u="none" strike="noStrike" dirty="0">
                          <a:solidFill>
                            <a:srgbClr val="FFC000"/>
                          </a:solidFill>
                          <a:effectLst/>
                        </a:rPr>
                        <a:t>Tienda Barrio Sur</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200" u="none" strike="noStrike" dirty="0" err="1">
                          <a:solidFill>
                            <a:srgbClr val="FFC000"/>
                          </a:solidFill>
                          <a:effectLst/>
                        </a:rPr>
                        <a:t>Retail</a:t>
                      </a:r>
                      <a:r>
                        <a:rPr lang="es-ES" sz="1200" u="none" strike="noStrike" dirty="0">
                          <a:solidFill>
                            <a:srgbClr val="FFC000"/>
                          </a:solidFill>
                          <a:effectLst/>
                        </a:rPr>
                        <a:t> Pequeño</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FC000"/>
                          </a:solidFill>
                          <a:effectLst/>
                        </a:rPr>
                        <a:t>198199</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FC000"/>
                          </a:solidFill>
                          <a:effectLst/>
                        </a:rPr>
                        <a:t>2</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2504028811"/>
                  </a:ext>
                </a:extLst>
              </a:tr>
              <a:tr h="206309">
                <a:tc>
                  <a:txBody>
                    <a:bodyPr/>
                    <a:lstStyle/>
                    <a:p>
                      <a:pPr algn="l" fontAlgn="b"/>
                      <a:r>
                        <a:rPr lang="es-ES" sz="1200" u="none" strike="noStrike" dirty="0">
                          <a:solidFill>
                            <a:srgbClr val="7496BC"/>
                          </a:solidFill>
                          <a:effectLst/>
                        </a:rPr>
                        <a:t>Cliente Corporativo Levante</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200" u="none" strike="noStrike">
                          <a:solidFill>
                            <a:srgbClr val="7496BC"/>
                          </a:solidFill>
                          <a:effectLst/>
                        </a:rPr>
                        <a:t>Corporativo</a:t>
                      </a:r>
                      <a:endParaRPr lang="es-ES" sz="1200" b="0" i="0" u="none" strike="noStrike">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154036</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2</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480834201"/>
                  </a:ext>
                </a:extLst>
              </a:tr>
              <a:tr h="206309">
                <a:tc>
                  <a:txBody>
                    <a:bodyPr/>
                    <a:lstStyle/>
                    <a:p>
                      <a:pPr algn="l" fontAlgn="b"/>
                      <a:r>
                        <a:rPr lang="es-ES" sz="1200" u="none" strike="noStrike" dirty="0">
                          <a:solidFill>
                            <a:srgbClr val="7496BC"/>
                          </a:solidFill>
                          <a:effectLst/>
                        </a:rPr>
                        <a:t>Cliente Abandonado 2026</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200" u="none" strike="noStrike">
                          <a:solidFill>
                            <a:srgbClr val="7496BC"/>
                          </a:solidFill>
                          <a:effectLst/>
                        </a:rPr>
                        <a:t>Retail</a:t>
                      </a:r>
                      <a:endParaRPr lang="es-ES" sz="1200" b="0" i="0" u="none" strike="noStrike">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150864</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2</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2789192702"/>
                  </a:ext>
                </a:extLst>
              </a:tr>
              <a:tr h="206309">
                <a:tc>
                  <a:txBody>
                    <a:bodyPr/>
                    <a:lstStyle/>
                    <a:p>
                      <a:pPr algn="l" fontAlgn="b"/>
                      <a:r>
                        <a:rPr lang="es-ES" sz="1200" u="none" strike="noStrike" dirty="0">
                          <a:solidFill>
                            <a:srgbClr val="7496BC"/>
                          </a:solidFill>
                          <a:effectLst/>
                        </a:rPr>
                        <a:t>Tienda Mixta Centro</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200" u="none" strike="noStrike" dirty="0" err="1">
                          <a:solidFill>
                            <a:srgbClr val="7496BC"/>
                          </a:solidFill>
                          <a:effectLst/>
                        </a:rPr>
                        <a:t>Retail</a:t>
                      </a:r>
                      <a:r>
                        <a:rPr lang="es-ES" sz="1200" u="none" strike="noStrike" dirty="0">
                          <a:solidFill>
                            <a:srgbClr val="7496BC"/>
                          </a:solidFill>
                          <a:effectLst/>
                        </a:rPr>
                        <a:t> Pequeño</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125100</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1</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3518758697"/>
                  </a:ext>
                </a:extLst>
              </a:tr>
            </a:tbl>
          </a:graphicData>
        </a:graphic>
      </p:graphicFrame>
    </p:spTree>
    <p:extLst>
      <p:ext uri="{BB962C8B-B14F-4D97-AF65-F5344CB8AC3E}">
        <p14:creationId xmlns:p14="http://schemas.microsoft.com/office/powerpoint/2010/main" val="1052300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B305ACBE-4ADD-7F2F-1237-FE6FE1B7ED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D9EBBAFA-1E8E-7C86-4A96-C03E05008C82}"/>
              </a:ext>
            </a:extLst>
          </p:cNvPr>
          <p:cNvPicPr>
            <a:picLocks noChangeAspect="1"/>
          </p:cNvPicPr>
          <p:nvPr/>
        </p:nvPicPr>
        <p:blipFill rotWithShape="1">
          <a:blip r:embed="rId3">
            <a:extLst>
              <a:ext uri="{28A0092B-C50C-407E-A947-70E740481C1C}">
                <a14:useLocalDpi xmlns:a14="http://schemas.microsoft.com/office/drawing/2010/main" val="0"/>
              </a:ext>
            </a:extLst>
          </a:blip>
          <a:srcRect r="44687"/>
          <a:stretch/>
        </p:blipFill>
        <p:spPr>
          <a:xfrm>
            <a:off x="0" y="-635000"/>
            <a:ext cx="6743700" cy="8128000"/>
          </a:xfrm>
          <a:prstGeom prst="rect">
            <a:avLst/>
          </a:prstGeom>
        </p:spPr>
      </p:pic>
      <p:sp>
        <p:nvSpPr>
          <p:cNvPr id="9" name="TextBox 8">
            <a:extLst>
              <a:ext uri="{FF2B5EF4-FFF2-40B4-BE49-F238E27FC236}">
                <a16:creationId xmlns:a16="http://schemas.microsoft.com/office/drawing/2014/main" id="{4927B1DC-D0A4-356B-A910-253953F755B9}"/>
              </a:ext>
            </a:extLst>
          </p:cNvPr>
          <p:cNvSpPr txBox="1"/>
          <p:nvPr/>
        </p:nvSpPr>
        <p:spPr>
          <a:xfrm>
            <a:off x="6334125" y="1707763"/>
            <a:ext cx="3884108" cy="830997"/>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pPr algn="r"/>
            <a:r>
              <a:rPr lang="es-ES" sz="2400" dirty="0"/>
              <a:t>EMERGENCIA</a:t>
            </a:r>
          </a:p>
          <a:p>
            <a:pPr algn="r"/>
            <a:r>
              <a:rPr lang="es-ES" sz="2400" dirty="0"/>
              <a:t>Recuperar Enero (</a:t>
            </a:r>
            <a:r>
              <a:rPr lang="es-ES" sz="2400" dirty="0">
                <a:solidFill>
                  <a:srgbClr val="FF0000"/>
                </a:solidFill>
              </a:rPr>
              <a:t>PRIORIDAD #1</a:t>
            </a:r>
            <a:r>
              <a:rPr lang="es-ES" sz="2400" dirty="0"/>
              <a:t>)</a:t>
            </a:r>
          </a:p>
        </p:txBody>
      </p:sp>
      <p:pic>
        <p:nvPicPr>
          <p:cNvPr id="6" name="Picture 5">
            <a:extLst>
              <a:ext uri="{FF2B5EF4-FFF2-40B4-BE49-F238E27FC236}">
                <a16:creationId xmlns:a16="http://schemas.microsoft.com/office/drawing/2014/main" id="{627BEBAB-30FA-F891-5B8A-DD7D5A2ED41C}"/>
              </a:ext>
            </a:extLst>
          </p:cNvPr>
          <p:cNvPicPr>
            <a:picLocks noChangeAspect="1"/>
          </p:cNvPicPr>
          <p:nvPr/>
        </p:nvPicPr>
        <p:blipFill rotWithShape="1">
          <a:blip r:embed="rId3">
            <a:extLst>
              <a:ext uri="{28A0092B-C50C-407E-A947-70E740481C1C}">
                <a14:useLocalDpi xmlns:a14="http://schemas.microsoft.com/office/drawing/2010/main" val="0"/>
              </a:ext>
            </a:extLst>
          </a:blip>
          <a:srcRect l="55313" r="-10626"/>
          <a:stretch/>
        </p:blipFill>
        <p:spPr>
          <a:xfrm>
            <a:off x="6743700" y="-635000"/>
            <a:ext cx="6743700" cy="8128000"/>
          </a:xfrm>
          <a:prstGeom prst="rect">
            <a:avLst/>
          </a:prstGeom>
        </p:spPr>
      </p:pic>
      <p:sp>
        <p:nvSpPr>
          <p:cNvPr id="5" name="TextBox 4">
            <a:extLst>
              <a:ext uri="{FF2B5EF4-FFF2-40B4-BE49-F238E27FC236}">
                <a16:creationId xmlns:a16="http://schemas.microsoft.com/office/drawing/2014/main" id="{907DCDEB-792A-6054-6FA5-72DD066A123B}"/>
              </a:ext>
            </a:extLst>
          </p:cNvPr>
          <p:cNvSpPr txBox="1"/>
          <p:nvPr/>
        </p:nvSpPr>
        <p:spPr>
          <a:xfrm>
            <a:off x="6812467" y="142007"/>
            <a:ext cx="5112488" cy="2554545"/>
          </a:xfrm>
          <a:prstGeom prst="rect">
            <a:avLst/>
          </a:prstGeom>
          <a:noFill/>
        </p:spPr>
        <p:txBody>
          <a:bodyPr wrap="square">
            <a:spAutoFit/>
          </a:bodyPr>
          <a:lstStyle>
            <a:defPPr>
              <a:defRPr lang="es-ES"/>
            </a:defPPr>
            <a:lvl1pPr>
              <a:defRPr sz="8000" b="1">
                <a:solidFill>
                  <a:srgbClr val="F5D055"/>
                </a:solidFill>
                <a:effectLst/>
                <a:latin typeface="Bahnschrift Condensed" panose="020B0502040204020203" pitchFamily="34" charset="0"/>
                <a:ea typeface="menlo"/>
                <a:cs typeface="menlo"/>
              </a:defRPr>
            </a:lvl1pPr>
          </a:lstStyle>
          <a:p>
            <a:r>
              <a:rPr lang="es-ES" dirty="0">
                <a:solidFill>
                  <a:srgbClr val="FEAF18"/>
                </a:solidFill>
              </a:rPr>
              <a:t>HALLASGOZ</a:t>
            </a:r>
          </a:p>
          <a:p>
            <a:r>
              <a:rPr lang="es-ES" dirty="0" err="1">
                <a:solidFill>
                  <a:srgbClr val="FEAF18"/>
                </a:solidFill>
              </a:rPr>
              <a:t>CRíTICOS</a:t>
            </a:r>
            <a:endParaRPr lang="es-ES" dirty="0">
              <a:solidFill>
                <a:srgbClr val="FEAF18"/>
              </a:solidFill>
            </a:endParaRPr>
          </a:p>
        </p:txBody>
      </p:sp>
      <p:sp>
        <p:nvSpPr>
          <p:cNvPr id="11" name="Rectangle 10">
            <a:extLst>
              <a:ext uri="{FF2B5EF4-FFF2-40B4-BE49-F238E27FC236}">
                <a16:creationId xmlns:a16="http://schemas.microsoft.com/office/drawing/2014/main" id="{822EB242-EA80-1BD7-31FE-6559AE002CB2}"/>
              </a:ext>
            </a:extLst>
          </p:cNvPr>
          <p:cNvSpPr/>
          <p:nvPr/>
        </p:nvSpPr>
        <p:spPr>
          <a:xfrm>
            <a:off x="1405" y="2538760"/>
            <a:ext cx="12192000" cy="4380614"/>
          </a:xfrm>
          <a:prstGeom prst="rect">
            <a:avLst/>
          </a:prstGeom>
          <a:gradFill flip="none" rotWithShape="1">
            <a:gsLst>
              <a:gs pos="100000">
                <a:schemeClr val="tx1"/>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TextBox 2">
            <a:extLst>
              <a:ext uri="{FF2B5EF4-FFF2-40B4-BE49-F238E27FC236}">
                <a16:creationId xmlns:a16="http://schemas.microsoft.com/office/drawing/2014/main" id="{FF24CB49-7CE6-EB04-5022-A86C1F1CE638}"/>
              </a:ext>
            </a:extLst>
          </p:cNvPr>
          <p:cNvSpPr txBox="1"/>
          <p:nvPr/>
        </p:nvSpPr>
        <p:spPr>
          <a:xfrm>
            <a:off x="-335589" y="-1398762"/>
            <a:ext cx="6624176" cy="3154710"/>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19900" b="1" dirty="0">
                <a:solidFill>
                  <a:schemeClr val="bg1">
                    <a:alpha val="10000"/>
                  </a:schemeClr>
                </a:solidFill>
                <a:latin typeface="Bahnschrift Condensed" panose="020B0502040204020203" pitchFamily="34" charset="0"/>
              </a:rPr>
              <a:t>IBERIA</a:t>
            </a:r>
          </a:p>
        </p:txBody>
      </p:sp>
      <p:sp>
        <p:nvSpPr>
          <p:cNvPr id="4" name="TextBox 3">
            <a:extLst>
              <a:ext uri="{FF2B5EF4-FFF2-40B4-BE49-F238E27FC236}">
                <a16:creationId xmlns:a16="http://schemas.microsoft.com/office/drawing/2014/main" id="{6E50773A-F027-AC90-64BF-39B07610A9C0}"/>
              </a:ext>
            </a:extLst>
          </p:cNvPr>
          <p:cNvSpPr txBox="1"/>
          <p:nvPr/>
        </p:nvSpPr>
        <p:spPr>
          <a:xfrm>
            <a:off x="4010845" y="5437453"/>
            <a:ext cx="7838255" cy="1295868"/>
          </a:xfrm>
          <a:prstGeom prst="rect">
            <a:avLst/>
          </a:prstGeom>
          <a:noFill/>
        </p:spPr>
        <p:txBody>
          <a:bodyPr wrap="square">
            <a:spAutoFit/>
          </a:bodyPr>
          <a:lstStyle>
            <a:defPPr>
              <a:defRPr lang="es-ES"/>
            </a:defPPr>
            <a:lvl1pPr lvl="0">
              <a:lnSpc>
                <a:spcPct val="150000"/>
              </a:lnSpc>
              <a:spcBef>
                <a:spcPts val="525"/>
              </a:spcBef>
              <a:spcAft>
                <a:spcPts val="525"/>
              </a:spcAft>
              <a:tabLst>
                <a:tab pos="571500" algn="l"/>
              </a:tabLst>
              <a:defRPr sz="2400">
                <a:solidFill>
                  <a:srgbClr val="8FB9E7"/>
                </a:solidFill>
                <a:latin typeface="Calibri" panose="020F0502020204030204" pitchFamily="34" charset="0"/>
                <a:ea typeface="Calibri" panose="020F0502020204030204" pitchFamily="34" charset="0"/>
                <a:cs typeface="Times New Roman" panose="02020603050405020304" pitchFamily="18" charset="0"/>
              </a:defRPr>
            </a:lvl1pPr>
          </a:lstStyle>
          <a:p>
            <a:r>
              <a:rPr lang="es-ES" sz="1800" dirty="0"/>
              <a:t>Tener en punta de mira y análisis a Mayorista Levante SL y Tienda Barrio Sur porque ellos son los principales Clientes, poseyendo el 11,15% y 10,2% de las operaciones de Iberia Mayorista</a:t>
            </a:r>
          </a:p>
        </p:txBody>
      </p:sp>
      <p:sp>
        <p:nvSpPr>
          <p:cNvPr id="10" name="TextBox 9">
            <a:extLst>
              <a:ext uri="{FF2B5EF4-FFF2-40B4-BE49-F238E27FC236}">
                <a16:creationId xmlns:a16="http://schemas.microsoft.com/office/drawing/2014/main" id="{DDA64C9E-DED6-6D9F-2F41-7EF150C511BC}"/>
              </a:ext>
            </a:extLst>
          </p:cNvPr>
          <p:cNvSpPr txBox="1"/>
          <p:nvPr/>
        </p:nvSpPr>
        <p:spPr>
          <a:xfrm>
            <a:off x="12246570" y="4626280"/>
            <a:ext cx="8603512" cy="1697068"/>
          </a:xfrm>
          <a:prstGeom prst="rect">
            <a:avLst/>
          </a:prstGeom>
          <a:noFill/>
        </p:spPr>
        <p:txBody>
          <a:bodyPr wrap="square">
            <a:spAutoFit/>
          </a:bodyPr>
          <a:lstStyle>
            <a:defPPr>
              <a:defRPr lang="es-ES"/>
            </a:defPPr>
            <a:lvl1pPr lvl="0">
              <a:lnSpc>
                <a:spcPct val="150000"/>
              </a:lnSpc>
              <a:spcBef>
                <a:spcPts val="525"/>
              </a:spcBef>
              <a:spcAft>
                <a:spcPts val="525"/>
              </a:spcAft>
              <a:tabLst>
                <a:tab pos="571500" algn="l"/>
              </a:tabLst>
              <a:defRPr sz="2400">
                <a:solidFill>
                  <a:srgbClr val="8FB9E7"/>
                </a:solidFill>
                <a:latin typeface="Calibri" panose="020F0502020204030204" pitchFamily="34" charset="0"/>
                <a:ea typeface="Calibri" panose="020F0502020204030204" pitchFamily="34" charset="0"/>
                <a:cs typeface="Times New Roman" panose="02020603050405020304" pitchFamily="18" charset="0"/>
              </a:defRPr>
            </a:lvl1pPr>
          </a:lstStyle>
          <a:p>
            <a:r>
              <a:rPr lang="es-ES" dirty="0"/>
              <a:t>Alta </a:t>
            </a:r>
            <a:r>
              <a:rPr lang="es-ES" dirty="0">
                <a:solidFill>
                  <a:srgbClr val="FEAF18"/>
                </a:solidFill>
              </a:rPr>
              <a:t>dependencia</a:t>
            </a:r>
            <a:r>
              <a:rPr lang="es-ES" dirty="0"/>
              <a:t> del canal Mayorista.</a:t>
            </a:r>
            <a:br>
              <a:rPr lang="es-ES" dirty="0"/>
            </a:br>
            <a:r>
              <a:rPr lang="es-ES" dirty="0"/>
              <a:t>Riesgo de </a:t>
            </a:r>
            <a:r>
              <a:rPr lang="es-ES" dirty="0">
                <a:solidFill>
                  <a:srgbClr val="FEAF18"/>
                </a:solidFill>
              </a:rPr>
              <a:t>concentración</a:t>
            </a:r>
            <a:r>
              <a:rPr lang="es-ES" dirty="0"/>
              <a:t> por cliente, producto o canal.</a:t>
            </a:r>
            <a:br>
              <a:rPr lang="es-ES" dirty="0"/>
            </a:br>
            <a:r>
              <a:rPr lang="es-ES" dirty="0"/>
              <a:t>Señales de </a:t>
            </a:r>
            <a:r>
              <a:rPr lang="es-ES" dirty="0">
                <a:solidFill>
                  <a:srgbClr val="FEAF18"/>
                </a:solidFill>
              </a:rPr>
              <a:t>retraso</a:t>
            </a:r>
            <a:r>
              <a:rPr lang="es-ES" dirty="0"/>
              <a:t> y </a:t>
            </a:r>
            <a:r>
              <a:rPr lang="es-ES" dirty="0">
                <a:solidFill>
                  <a:srgbClr val="FEAF18"/>
                </a:solidFill>
              </a:rPr>
              <a:t>variabilidad operativa </a:t>
            </a:r>
            <a:r>
              <a:rPr lang="es-ES" dirty="0"/>
              <a:t>en algunos pedidos.</a:t>
            </a:r>
          </a:p>
        </p:txBody>
      </p:sp>
      <p:sp>
        <p:nvSpPr>
          <p:cNvPr id="12" name="TextBox 11">
            <a:extLst>
              <a:ext uri="{FF2B5EF4-FFF2-40B4-BE49-F238E27FC236}">
                <a16:creationId xmlns:a16="http://schemas.microsoft.com/office/drawing/2014/main" id="{D811C8E4-97C9-0AA2-F965-0FA3B72FBAF8}"/>
              </a:ext>
            </a:extLst>
          </p:cNvPr>
          <p:cNvSpPr txBox="1"/>
          <p:nvPr/>
        </p:nvSpPr>
        <p:spPr>
          <a:xfrm>
            <a:off x="2743200" y="1707763"/>
            <a:ext cx="3884108" cy="830997"/>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pPr algn="r"/>
            <a:r>
              <a:rPr lang="es-ES" sz="2400" dirty="0"/>
              <a:t>EMERGENCIA</a:t>
            </a:r>
          </a:p>
          <a:p>
            <a:pPr algn="r"/>
            <a:r>
              <a:rPr lang="es-ES" sz="2400" dirty="0"/>
              <a:t>Recuperar Enero (</a:t>
            </a:r>
            <a:r>
              <a:rPr lang="es-ES" sz="2400" dirty="0">
                <a:solidFill>
                  <a:srgbClr val="FF0000"/>
                </a:solidFill>
              </a:rPr>
              <a:t>PRIORIDAD #1</a:t>
            </a:r>
            <a:r>
              <a:rPr lang="es-ES" sz="2400" dirty="0"/>
              <a:t>)</a:t>
            </a:r>
          </a:p>
        </p:txBody>
      </p:sp>
      <p:sp>
        <p:nvSpPr>
          <p:cNvPr id="19" name="TextBox 18">
            <a:extLst>
              <a:ext uri="{FF2B5EF4-FFF2-40B4-BE49-F238E27FC236}">
                <a16:creationId xmlns:a16="http://schemas.microsoft.com/office/drawing/2014/main" id="{86D32ECF-553A-2A7D-54B9-CB3CF040EED0}"/>
              </a:ext>
            </a:extLst>
          </p:cNvPr>
          <p:cNvSpPr txBox="1"/>
          <p:nvPr/>
        </p:nvSpPr>
        <p:spPr>
          <a:xfrm>
            <a:off x="562117" y="5049399"/>
            <a:ext cx="3207203" cy="830997"/>
          </a:xfrm>
          <a:prstGeom prst="rect">
            <a:avLst/>
          </a:prstGeom>
          <a:noFill/>
        </p:spPr>
        <p:txBody>
          <a:bodyPr wrap="square">
            <a:spAutoFit/>
          </a:bodyPr>
          <a:lstStyle>
            <a:defPPr>
              <a:defRPr lang="es-ES"/>
            </a:defPPr>
            <a:lvl1pPr>
              <a:defRPr sz="8000" b="1">
                <a:solidFill>
                  <a:srgbClr val="F5D055"/>
                </a:solidFill>
                <a:effectLst/>
                <a:latin typeface="Bahnschrift Condensed" panose="020B0502040204020203" pitchFamily="34" charset="0"/>
                <a:ea typeface="menlo"/>
                <a:cs typeface="menlo"/>
              </a:defRPr>
            </a:lvl1pPr>
          </a:lstStyle>
          <a:p>
            <a:pPr algn="r"/>
            <a:r>
              <a:rPr lang="es-ES" sz="4800" dirty="0">
                <a:solidFill>
                  <a:srgbClr val="C00000"/>
                </a:solidFill>
              </a:rPr>
              <a:t>Alertas rojas</a:t>
            </a:r>
          </a:p>
        </p:txBody>
      </p:sp>
      <p:graphicFrame>
        <p:nvGraphicFramePr>
          <p:cNvPr id="21" name="Table 20">
            <a:extLst>
              <a:ext uri="{FF2B5EF4-FFF2-40B4-BE49-F238E27FC236}">
                <a16:creationId xmlns:a16="http://schemas.microsoft.com/office/drawing/2014/main" id="{A86493F8-BD23-09F5-71CD-07DC5EFC925B}"/>
              </a:ext>
            </a:extLst>
          </p:cNvPr>
          <p:cNvGraphicFramePr>
            <a:graphicFrameLocks noGrp="1"/>
          </p:cNvGraphicFramePr>
          <p:nvPr>
            <p:extLst>
              <p:ext uri="{D42A27DB-BD31-4B8C-83A1-F6EECF244321}">
                <p14:modId xmlns:p14="http://schemas.microsoft.com/office/powerpoint/2010/main" val="2974739249"/>
              </p:ext>
            </p:extLst>
          </p:nvPr>
        </p:nvGraphicFramePr>
        <p:xfrm>
          <a:off x="4103236" y="4010872"/>
          <a:ext cx="7250563" cy="1315390"/>
        </p:xfrm>
        <a:graphic>
          <a:graphicData uri="http://schemas.openxmlformats.org/drawingml/2006/table">
            <a:tbl>
              <a:tblPr>
                <a:tableStyleId>{F5AB1C69-6EDB-4FF4-983F-18BD219EF322}</a:tableStyleId>
              </a:tblPr>
              <a:tblGrid>
                <a:gridCol w="2742010">
                  <a:extLst>
                    <a:ext uri="{9D8B030D-6E8A-4147-A177-3AD203B41FA5}">
                      <a16:colId xmlns:a16="http://schemas.microsoft.com/office/drawing/2014/main" val="767257243"/>
                    </a:ext>
                  </a:extLst>
                </a:gridCol>
                <a:gridCol w="2244185">
                  <a:extLst>
                    <a:ext uri="{9D8B030D-6E8A-4147-A177-3AD203B41FA5}">
                      <a16:colId xmlns:a16="http://schemas.microsoft.com/office/drawing/2014/main" val="2526823521"/>
                    </a:ext>
                  </a:extLst>
                </a:gridCol>
                <a:gridCol w="933450">
                  <a:extLst>
                    <a:ext uri="{9D8B030D-6E8A-4147-A177-3AD203B41FA5}">
                      <a16:colId xmlns:a16="http://schemas.microsoft.com/office/drawing/2014/main" val="2921279272"/>
                    </a:ext>
                  </a:extLst>
                </a:gridCol>
                <a:gridCol w="1330918">
                  <a:extLst>
                    <a:ext uri="{9D8B030D-6E8A-4147-A177-3AD203B41FA5}">
                      <a16:colId xmlns:a16="http://schemas.microsoft.com/office/drawing/2014/main" val="1543447804"/>
                    </a:ext>
                  </a:extLst>
                </a:gridCol>
              </a:tblGrid>
              <a:tr h="264323">
                <a:tc>
                  <a:txBody>
                    <a:bodyPr/>
                    <a:lstStyle/>
                    <a:p>
                      <a:pPr algn="l" fontAlgn="b"/>
                      <a:r>
                        <a:rPr lang="es-ES" sz="1800" u="none" strike="noStrike" dirty="0" err="1">
                          <a:solidFill>
                            <a:schemeClr val="bg1"/>
                          </a:solidFill>
                          <a:effectLst/>
                        </a:rPr>
                        <a:t>NombreCliente</a:t>
                      </a:r>
                      <a:endParaRPr lang="es-ES" sz="1800" b="0" i="0" u="none" strike="noStrike" dirty="0">
                        <a:solidFill>
                          <a:schemeClr val="bg1"/>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800" u="none" strike="noStrike" dirty="0">
                          <a:solidFill>
                            <a:schemeClr val="bg1"/>
                          </a:solidFill>
                          <a:effectLst/>
                        </a:rPr>
                        <a:t>Segmento</a:t>
                      </a:r>
                      <a:endParaRPr lang="es-ES" sz="1800" b="0" i="0" u="none" strike="noStrike" dirty="0">
                        <a:solidFill>
                          <a:schemeClr val="bg1"/>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800" u="none" strike="noStrike" kern="1200" dirty="0">
                          <a:solidFill>
                            <a:schemeClr val="bg1"/>
                          </a:solidFill>
                          <a:effectLst/>
                          <a:latin typeface="+mn-lt"/>
                          <a:ea typeface="+mn-ea"/>
                          <a:cs typeface="+mn-cs"/>
                        </a:rPr>
                        <a:t>Ventas</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r" defTabSz="914400" rtl="0" eaLnBrk="1" fontAlgn="b" latinLnBrk="0" hangingPunct="1"/>
                      <a:r>
                        <a:rPr lang="es-ES" sz="1800" u="none" strike="noStrike" kern="1200" dirty="0" err="1">
                          <a:solidFill>
                            <a:schemeClr val="bg1"/>
                          </a:solidFill>
                          <a:effectLst/>
                          <a:latin typeface="+mn-lt"/>
                          <a:ea typeface="+mn-ea"/>
                          <a:cs typeface="+mn-cs"/>
                        </a:rPr>
                        <a:t>NumVentas</a:t>
                      </a:r>
                      <a:endParaRPr lang="es-ES" sz="1800" u="none" strike="noStrike" kern="1200" dirty="0">
                        <a:solidFill>
                          <a:schemeClr val="bg1"/>
                        </a:solidFill>
                        <a:effectLst/>
                        <a:latin typeface="+mn-lt"/>
                        <a:ea typeface="+mn-ea"/>
                        <a:cs typeface="+mn-cs"/>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1565195418"/>
                  </a:ext>
                </a:extLst>
              </a:tr>
              <a:tr h="206309">
                <a:tc>
                  <a:txBody>
                    <a:bodyPr/>
                    <a:lstStyle/>
                    <a:p>
                      <a:pPr algn="l" fontAlgn="b"/>
                      <a:r>
                        <a:rPr lang="es-ES" sz="1200" u="none" strike="noStrike" dirty="0">
                          <a:solidFill>
                            <a:srgbClr val="FFC000"/>
                          </a:solidFill>
                          <a:effectLst/>
                        </a:rPr>
                        <a:t>Mayorista Levante SL</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200" u="none" strike="noStrike" dirty="0">
                          <a:solidFill>
                            <a:srgbClr val="FFC000"/>
                          </a:solidFill>
                          <a:effectLst/>
                        </a:rPr>
                        <a:t>Mayorista</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F0000"/>
                          </a:solidFill>
                          <a:effectLst/>
                        </a:rPr>
                        <a:t>216645</a:t>
                      </a:r>
                      <a:endParaRPr lang="es-ES" sz="1200" b="0" i="0" u="none" strike="noStrike" dirty="0">
                        <a:solidFill>
                          <a:srgbClr val="FF0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FC000"/>
                          </a:solidFill>
                          <a:effectLst/>
                        </a:rPr>
                        <a:t>3</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783262360"/>
                  </a:ext>
                </a:extLst>
              </a:tr>
              <a:tr h="206309">
                <a:tc>
                  <a:txBody>
                    <a:bodyPr/>
                    <a:lstStyle/>
                    <a:p>
                      <a:pPr algn="l" fontAlgn="b"/>
                      <a:r>
                        <a:rPr lang="es-ES" sz="1200" u="none" strike="noStrike" dirty="0">
                          <a:solidFill>
                            <a:srgbClr val="FFC000"/>
                          </a:solidFill>
                          <a:effectLst/>
                        </a:rPr>
                        <a:t>Tienda Barrio Sur</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200" u="none" strike="noStrike" dirty="0" err="1">
                          <a:solidFill>
                            <a:srgbClr val="FFC000"/>
                          </a:solidFill>
                          <a:effectLst/>
                        </a:rPr>
                        <a:t>Retail</a:t>
                      </a:r>
                      <a:r>
                        <a:rPr lang="es-ES" sz="1200" u="none" strike="noStrike" dirty="0">
                          <a:solidFill>
                            <a:srgbClr val="FFC000"/>
                          </a:solidFill>
                          <a:effectLst/>
                        </a:rPr>
                        <a:t> Pequeño</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F0000"/>
                          </a:solidFill>
                          <a:effectLst/>
                        </a:rPr>
                        <a:t>198199</a:t>
                      </a:r>
                      <a:endParaRPr lang="es-ES" sz="1200" b="0" i="0" u="none" strike="noStrike" dirty="0">
                        <a:solidFill>
                          <a:srgbClr val="FF0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FC000"/>
                          </a:solidFill>
                          <a:effectLst/>
                        </a:rPr>
                        <a:t>2</a:t>
                      </a:r>
                      <a:endParaRPr lang="es-ES" sz="1200" b="0" i="0" u="none" strike="noStrike" dirty="0">
                        <a:solidFill>
                          <a:srgbClr val="FFC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2504028811"/>
                  </a:ext>
                </a:extLst>
              </a:tr>
              <a:tr h="206309">
                <a:tc>
                  <a:txBody>
                    <a:bodyPr/>
                    <a:lstStyle/>
                    <a:p>
                      <a:pPr algn="l" fontAlgn="b"/>
                      <a:r>
                        <a:rPr lang="es-ES" sz="1200" u="none" strike="noStrike" dirty="0">
                          <a:solidFill>
                            <a:srgbClr val="7496BC"/>
                          </a:solidFill>
                          <a:effectLst/>
                        </a:rPr>
                        <a:t>Cliente Corporativo Levante</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200" u="none" strike="noStrike">
                          <a:solidFill>
                            <a:srgbClr val="7496BC"/>
                          </a:solidFill>
                          <a:effectLst/>
                        </a:rPr>
                        <a:t>Corporativo</a:t>
                      </a:r>
                      <a:endParaRPr lang="es-ES" sz="1200" b="0" i="0" u="none" strike="noStrike">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154036</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2</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480834201"/>
                  </a:ext>
                </a:extLst>
              </a:tr>
              <a:tr h="206309">
                <a:tc>
                  <a:txBody>
                    <a:bodyPr/>
                    <a:lstStyle/>
                    <a:p>
                      <a:pPr algn="l" fontAlgn="b"/>
                      <a:r>
                        <a:rPr lang="es-ES" sz="1200" u="none" strike="noStrike" dirty="0">
                          <a:solidFill>
                            <a:srgbClr val="7496BC"/>
                          </a:solidFill>
                          <a:effectLst/>
                        </a:rPr>
                        <a:t>Cliente Abandonado 2026</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200" u="none" strike="noStrike">
                          <a:solidFill>
                            <a:srgbClr val="7496BC"/>
                          </a:solidFill>
                          <a:effectLst/>
                        </a:rPr>
                        <a:t>Retail</a:t>
                      </a:r>
                      <a:endParaRPr lang="es-ES" sz="1200" b="0" i="0" u="none" strike="noStrike">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150864</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2</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2789192702"/>
                  </a:ext>
                </a:extLst>
              </a:tr>
              <a:tr h="206309">
                <a:tc>
                  <a:txBody>
                    <a:bodyPr/>
                    <a:lstStyle/>
                    <a:p>
                      <a:pPr algn="l" fontAlgn="b"/>
                      <a:r>
                        <a:rPr lang="es-ES" sz="1200" u="none" strike="noStrike" dirty="0">
                          <a:solidFill>
                            <a:srgbClr val="7496BC"/>
                          </a:solidFill>
                          <a:effectLst/>
                        </a:rPr>
                        <a:t>Tienda Mixta Centro</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l" fontAlgn="b"/>
                      <a:r>
                        <a:rPr lang="es-ES" sz="1200" u="none" strike="noStrike" dirty="0" err="1">
                          <a:solidFill>
                            <a:srgbClr val="7496BC"/>
                          </a:solidFill>
                          <a:effectLst/>
                        </a:rPr>
                        <a:t>Retail</a:t>
                      </a:r>
                      <a:r>
                        <a:rPr lang="es-ES" sz="1200" u="none" strike="noStrike" dirty="0">
                          <a:solidFill>
                            <a:srgbClr val="7496BC"/>
                          </a:solidFill>
                          <a:effectLst/>
                        </a:rPr>
                        <a:t> Pequeño</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125100</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7496BC"/>
                          </a:solidFill>
                          <a:effectLst/>
                        </a:rPr>
                        <a:t>1</a:t>
                      </a:r>
                      <a:endParaRPr lang="es-ES" sz="1200" b="0" i="0" u="none" strike="noStrike" dirty="0">
                        <a:solidFill>
                          <a:srgbClr val="7496BC"/>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3518758697"/>
                  </a:ext>
                </a:extLst>
              </a:tr>
            </a:tbl>
          </a:graphicData>
        </a:graphic>
      </p:graphicFrame>
      <p:sp>
        <p:nvSpPr>
          <p:cNvPr id="22" name="TextBox 21">
            <a:extLst>
              <a:ext uri="{FF2B5EF4-FFF2-40B4-BE49-F238E27FC236}">
                <a16:creationId xmlns:a16="http://schemas.microsoft.com/office/drawing/2014/main" id="{486C0FEC-D35C-F330-5818-89A9B0D11772}"/>
              </a:ext>
            </a:extLst>
          </p:cNvPr>
          <p:cNvSpPr txBox="1"/>
          <p:nvPr/>
        </p:nvSpPr>
        <p:spPr>
          <a:xfrm>
            <a:off x="12294195" y="4626280"/>
            <a:ext cx="6917730" cy="1694631"/>
          </a:xfrm>
          <a:prstGeom prst="rect">
            <a:avLst/>
          </a:prstGeom>
          <a:noFill/>
        </p:spPr>
        <p:txBody>
          <a:bodyPr wrap="square">
            <a:spAutoFit/>
          </a:bodyPr>
          <a:lstStyle>
            <a:defPPr>
              <a:defRPr lang="es-ES"/>
            </a:defPPr>
            <a:lvl1pPr lvl="0">
              <a:lnSpc>
                <a:spcPct val="150000"/>
              </a:lnSpc>
              <a:spcBef>
                <a:spcPts val="525"/>
              </a:spcBef>
              <a:spcAft>
                <a:spcPts val="525"/>
              </a:spcAft>
              <a:tabLst>
                <a:tab pos="571500" algn="l"/>
              </a:tabLst>
              <a:defRPr sz="2400">
                <a:solidFill>
                  <a:srgbClr val="8FB9E7"/>
                </a:solidFill>
                <a:latin typeface="Calibri" panose="020F0502020204030204" pitchFamily="34" charset="0"/>
                <a:ea typeface="Calibri" panose="020F0502020204030204" pitchFamily="34" charset="0"/>
                <a:cs typeface="Times New Roman" panose="02020603050405020304" pitchFamily="18" charset="0"/>
              </a:defRPr>
            </a:lvl1pPr>
          </a:lstStyle>
          <a:p>
            <a:r>
              <a:rPr lang="es-ES" dirty="0"/>
              <a:t>¿</a:t>
            </a:r>
            <a:r>
              <a:rPr lang="es-ES" dirty="0">
                <a:solidFill>
                  <a:srgbClr val="FEAF18"/>
                </a:solidFill>
              </a:rPr>
              <a:t>Qué pasó </a:t>
            </a:r>
            <a:r>
              <a:rPr lang="es-ES" dirty="0"/>
              <a:t>en Enero 773k€? </a:t>
            </a:r>
            <a:br>
              <a:rPr lang="es-ES" dirty="0"/>
            </a:br>
            <a:r>
              <a:rPr lang="es-ES" dirty="0"/>
              <a:t>¿</a:t>
            </a:r>
            <a:r>
              <a:rPr lang="es-ES" dirty="0">
                <a:solidFill>
                  <a:srgbClr val="FEAF18"/>
                </a:solidFill>
              </a:rPr>
              <a:t>Por qué </a:t>
            </a:r>
            <a:r>
              <a:rPr lang="es-ES" dirty="0"/>
              <a:t>colapsó -95%? </a:t>
            </a:r>
            <a:br>
              <a:rPr lang="es-ES" dirty="0"/>
            </a:br>
            <a:r>
              <a:rPr lang="es-ES" dirty="0"/>
              <a:t>¿Mayorista Levante SL sigue activo?</a:t>
            </a:r>
          </a:p>
        </p:txBody>
      </p:sp>
      <p:sp>
        <p:nvSpPr>
          <p:cNvPr id="23" name="TextBox 22">
            <a:extLst>
              <a:ext uri="{FF2B5EF4-FFF2-40B4-BE49-F238E27FC236}">
                <a16:creationId xmlns:a16="http://schemas.microsoft.com/office/drawing/2014/main" id="{24E3A8B6-4A05-8E6B-B7E0-CA46766BA497}"/>
              </a:ext>
            </a:extLst>
          </p:cNvPr>
          <p:cNvSpPr txBox="1"/>
          <p:nvPr/>
        </p:nvSpPr>
        <p:spPr>
          <a:xfrm>
            <a:off x="2100855" y="3989155"/>
            <a:ext cx="1909990" cy="338554"/>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pPr algn="r"/>
            <a:r>
              <a:rPr lang="es-ES" sz="1600" dirty="0">
                <a:solidFill>
                  <a:schemeClr val="bg1"/>
                </a:solidFill>
              </a:rPr>
              <a:t>consulta SQL</a:t>
            </a:r>
          </a:p>
        </p:txBody>
      </p:sp>
      <p:sp>
        <p:nvSpPr>
          <p:cNvPr id="26" name="TextBox 25">
            <a:extLst>
              <a:ext uri="{FF2B5EF4-FFF2-40B4-BE49-F238E27FC236}">
                <a16:creationId xmlns:a16="http://schemas.microsoft.com/office/drawing/2014/main" id="{DFB5FB46-CFF6-3890-8B8A-6F72AB70EEE5}"/>
              </a:ext>
            </a:extLst>
          </p:cNvPr>
          <p:cNvSpPr txBox="1"/>
          <p:nvPr/>
        </p:nvSpPr>
        <p:spPr>
          <a:xfrm>
            <a:off x="12270444" y="4719280"/>
            <a:ext cx="8080743" cy="1550746"/>
          </a:xfrm>
          <a:prstGeom prst="rect">
            <a:avLst/>
          </a:prstGeom>
          <a:noFill/>
        </p:spPr>
        <p:txBody>
          <a:bodyPr wrap="square">
            <a:spAutoFit/>
          </a:bodyPr>
          <a:lstStyle/>
          <a:p>
            <a:pPr lvl="0">
              <a:lnSpc>
                <a:spcPct val="150000"/>
              </a:lnSpc>
              <a:spcBef>
                <a:spcPts val="525"/>
              </a:spcBef>
              <a:spcAft>
                <a:spcPts val="525"/>
              </a:spcAft>
              <a:tabLst>
                <a:tab pos="571500" algn="l"/>
              </a:tabLst>
            </a:pPr>
            <a:r>
              <a:rPr lang="es-ES" sz="1800" dirty="0">
                <a:solidFill>
                  <a:schemeClr val="accent2">
                    <a:lumMod val="60000"/>
                    <a:lumOff val="40000"/>
                  </a:schemeClr>
                </a:solidFill>
                <a:effectLst/>
                <a:latin typeface="source serif 4"/>
                <a:ea typeface="source serif 4"/>
                <a:cs typeface="source serif 4"/>
              </a:rPr>
              <a:t>No temer la concentración en el canal Mayorista y priorizarla como eje comercial.</a:t>
            </a:r>
            <a:endParaRPr lang="es-ES" sz="1800" dirty="0">
              <a:solidFill>
                <a:schemeClr val="accent2">
                  <a:lumMod val="60000"/>
                  <a:lumOff val="40000"/>
                </a:schemeClr>
              </a:solidFill>
              <a:effectLst/>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Bef>
                <a:spcPts val="525"/>
              </a:spcBef>
              <a:spcAft>
                <a:spcPts val="525"/>
              </a:spcAft>
              <a:tabLst>
                <a:tab pos="571500" algn="l"/>
              </a:tabLst>
            </a:pPr>
            <a:r>
              <a:rPr lang="es-ES" sz="1800" dirty="0">
                <a:solidFill>
                  <a:schemeClr val="accent2">
                    <a:lumMod val="60000"/>
                    <a:lumOff val="40000"/>
                  </a:schemeClr>
                </a:solidFill>
                <a:effectLst/>
                <a:latin typeface="source serif 4"/>
                <a:ea typeface="source serif 4"/>
                <a:cs typeface="source serif 4"/>
              </a:rPr>
              <a:t>Optimizar descuentos por canal y tipo de cliente.</a:t>
            </a:r>
            <a:endParaRPr lang="es-ES" sz="1800" dirty="0">
              <a:solidFill>
                <a:schemeClr val="accent2">
                  <a:lumMod val="60000"/>
                  <a:lumOff val="40000"/>
                </a:schemeClr>
              </a:solidFill>
              <a:effectLst/>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Bef>
                <a:spcPts val="525"/>
              </a:spcBef>
              <a:spcAft>
                <a:spcPts val="525"/>
              </a:spcAft>
              <a:tabLst>
                <a:tab pos="571500" algn="l"/>
              </a:tabLst>
            </a:pPr>
            <a:r>
              <a:rPr lang="es-ES" sz="1800" dirty="0">
                <a:solidFill>
                  <a:schemeClr val="accent2">
                    <a:lumMod val="60000"/>
                    <a:lumOff val="40000"/>
                  </a:schemeClr>
                </a:solidFill>
                <a:effectLst/>
                <a:latin typeface="source serif 4"/>
                <a:ea typeface="source serif 4"/>
                <a:cs typeface="source serif 4"/>
              </a:rPr>
              <a:t>Mejorar tiempos de preparación y entrega para elevar el servicio.</a:t>
            </a:r>
            <a:endParaRPr lang="es-ES" sz="1800" dirty="0">
              <a:solidFill>
                <a:schemeClr val="accent2">
                  <a:lumMod val="60000"/>
                  <a:lumOff val="40000"/>
                </a:schemeClr>
              </a:solidFill>
              <a:effectLst/>
              <a:latin typeface="Georgia" panose="02040502050405020303" pitchFamily="18" charset="0"/>
              <a:ea typeface="Calibri" panose="020F0502020204030204" pitchFamily="34" charset="0"/>
              <a:cs typeface="Times New Roman" panose="02020603050405020304" pitchFamily="18" charset="0"/>
            </a:endParaRPr>
          </a:p>
        </p:txBody>
      </p:sp>
      <p:sp>
        <p:nvSpPr>
          <p:cNvPr id="27" name="TextBox 26">
            <a:extLst>
              <a:ext uri="{FF2B5EF4-FFF2-40B4-BE49-F238E27FC236}">
                <a16:creationId xmlns:a16="http://schemas.microsoft.com/office/drawing/2014/main" id="{10ADC22B-F2F9-2864-5DB8-09DB45F64290}"/>
              </a:ext>
            </a:extLst>
          </p:cNvPr>
          <p:cNvSpPr txBox="1"/>
          <p:nvPr/>
        </p:nvSpPr>
        <p:spPr>
          <a:xfrm>
            <a:off x="6810935" y="135798"/>
            <a:ext cx="5208920" cy="2554545"/>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r>
              <a:rPr lang="es-ES" dirty="0">
                <a:solidFill>
                  <a:srgbClr val="FEAF18">
                    <a:alpha val="0"/>
                  </a:srgbClr>
                </a:solidFill>
              </a:rPr>
              <a:t>Oportunidades verdes</a:t>
            </a:r>
          </a:p>
        </p:txBody>
      </p:sp>
      <p:sp>
        <p:nvSpPr>
          <p:cNvPr id="28" name="TextBox 27">
            <a:extLst>
              <a:ext uri="{FF2B5EF4-FFF2-40B4-BE49-F238E27FC236}">
                <a16:creationId xmlns:a16="http://schemas.microsoft.com/office/drawing/2014/main" id="{769CD041-36E2-4E20-5EE6-997D78913F8A}"/>
              </a:ext>
            </a:extLst>
          </p:cNvPr>
          <p:cNvSpPr txBox="1"/>
          <p:nvPr/>
        </p:nvSpPr>
        <p:spPr>
          <a:xfrm>
            <a:off x="-2753949" y="5043171"/>
            <a:ext cx="2789306" cy="830997"/>
          </a:xfrm>
          <a:prstGeom prst="rect">
            <a:avLst/>
          </a:prstGeom>
          <a:noFill/>
        </p:spPr>
        <p:txBody>
          <a:bodyPr wrap="square">
            <a:spAutoFit/>
          </a:bodyPr>
          <a:lstStyle>
            <a:defPPr>
              <a:defRPr lang="es-ES"/>
            </a:defPPr>
            <a:lvl1pPr algn="r">
              <a:defRPr sz="4800" b="1">
                <a:solidFill>
                  <a:srgbClr val="C00000"/>
                </a:solidFill>
                <a:effectLst/>
                <a:latin typeface="Bahnschrift Condensed" panose="020B0502040204020203" pitchFamily="34" charset="0"/>
                <a:ea typeface="menlo"/>
                <a:cs typeface="menlo"/>
              </a:defRPr>
            </a:lvl1pPr>
          </a:lstStyle>
          <a:p>
            <a:r>
              <a:rPr lang="es-ES" dirty="0">
                <a:solidFill>
                  <a:schemeClr val="accent6">
                    <a:lumMod val="75000"/>
                    <a:alpha val="0"/>
                  </a:schemeClr>
                </a:solidFill>
              </a:rPr>
              <a:t>Puntos clave</a:t>
            </a:r>
          </a:p>
        </p:txBody>
      </p:sp>
    </p:spTree>
    <p:extLst>
      <p:ext uri="{BB962C8B-B14F-4D97-AF65-F5344CB8AC3E}">
        <p14:creationId xmlns:p14="http://schemas.microsoft.com/office/powerpoint/2010/main" val="1505863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5D79DE-BB66-DFA9-8D8A-F362FD7C27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Rectangle 16">
            <a:extLst>
              <a:ext uri="{FF2B5EF4-FFF2-40B4-BE49-F238E27FC236}">
                <a16:creationId xmlns:a16="http://schemas.microsoft.com/office/drawing/2014/main" id="{036965DC-C0C9-E455-E3DA-9965038B262B}"/>
              </a:ext>
            </a:extLst>
          </p:cNvPr>
          <p:cNvSpPr/>
          <p:nvPr/>
        </p:nvSpPr>
        <p:spPr>
          <a:xfrm>
            <a:off x="1405" y="2538760"/>
            <a:ext cx="12192000" cy="4380614"/>
          </a:xfrm>
          <a:prstGeom prst="rect">
            <a:avLst/>
          </a:prstGeom>
          <a:gradFill flip="none" rotWithShape="1">
            <a:gsLst>
              <a:gs pos="100000">
                <a:schemeClr val="tx1"/>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extBox 1">
            <a:extLst>
              <a:ext uri="{FF2B5EF4-FFF2-40B4-BE49-F238E27FC236}">
                <a16:creationId xmlns:a16="http://schemas.microsoft.com/office/drawing/2014/main" id="{405D25DC-D5A6-5853-CF12-13552B4CFFF5}"/>
              </a:ext>
            </a:extLst>
          </p:cNvPr>
          <p:cNvSpPr txBox="1"/>
          <p:nvPr/>
        </p:nvSpPr>
        <p:spPr>
          <a:xfrm>
            <a:off x="7427286" y="-1398762"/>
            <a:ext cx="6624176" cy="3154710"/>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19900" b="1" dirty="0">
                <a:solidFill>
                  <a:schemeClr val="bg1">
                    <a:alpha val="10000"/>
                  </a:schemeClr>
                </a:solidFill>
                <a:latin typeface="Bahnschrift Condensed" panose="020B0502040204020203" pitchFamily="34" charset="0"/>
              </a:rPr>
              <a:t>IBERIA</a:t>
            </a:r>
          </a:p>
        </p:txBody>
      </p:sp>
      <p:graphicFrame>
        <p:nvGraphicFramePr>
          <p:cNvPr id="4" name="Table 3">
            <a:extLst>
              <a:ext uri="{FF2B5EF4-FFF2-40B4-BE49-F238E27FC236}">
                <a16:creationId xmlns:a16="http://schemas.microsoft.com/office/drawing/2014/main" id="{B758C1EE-D05F-E146-A7B5-959E09FFBB97}"/>
              </a:ext>
            </a:extLst>
          </p:cNvPr>
          <p:cNvGraphicFramePr>
            <a:graphicFrameLocks noGrp="1"/>
          </p:cNvGraphicFramePr>
          <p:nvPr>
            <p:extLst>
              <p:ext uri="{D42A27DB-BD31-4B8C-83A1-F6EECF244321}">
                <p14:modId xmlns:p14="http://schemas.microsoft.com/office/powerpoint/2010/main" val="3281288891"/>
              </p:ext>
            </p:extLst>
          </p:nvPr>
        </p:nvGraphicFramePr>
        <p:xfrm>
          <a:off x="4093983" y="3357789"/>
          <a:ext cx="6836733" cy="1245870"/>
        </p:xfrm>
        <a:graphic>
          <a:graphicData uri="http://schemas.openxmlformats.org/drawingml/2006/table">
            <a:tbl>
              <a:tblPr>
                <a:tableStyleId>{5C22544A-7EE6-4342-B048-85BDC9FD1C3A}</a:tableStyleId>
              </a:tblPr>
              <a:tblGrid>
                <a:gridCol w="2381248">
                  <a:extLst>
                    <a:ext uri="{9D8B030D-6E8A-4147-A177-3AD203B41FA5}">
                      <a16:colId xmlns:a16="http://schemas.microsoft.com/office/drawing/2014/main" val="4048843122"/>
                    </a:ext>
                  </a:extLst>
                </a:gridCol>
                <a:gridCol w="2349796">
                  <a:extLst>
                    <a:ext uri="{9D8B030D-6E8A-4147-A177-3AD203B41FA5}">
                      <a16:colId xmlns:a16="http://schemas.microsoft.com/office/drawing/2014/main" val="3417024966"/>
                    </a:ext>
                  </a:extLst>
                </a:gridCol>
                <a:gridCol w="2105689">
                  <a:extLst>
                    <a:ext uri="{9D8B030D-6E8A-4147-A177-3AD203B41FA5}">
                      <a16:colId xmlns:a16="http://schemas.microsoft.com/office/drawing/2014/main" val="781063734"/>
                    </a:ext>
                  </a:extLst>
                </a:gridCol>
              </a:tblGrid>
              <a:tr h="190500">
                <a:tc>
                  <a:txBody>
                    <a:bodyPr/>
                    <a:lstStyle/>
                    <a:p>
                      <a:pPr marL="0" algn="l" defTabSz="914400" rtl="0" eaLnBrk="1" fontAlgn="b" latinLnBrk="0" hangingPunct="1"/>
                      <a:r>
                        <a:rPr lang="es-ES" sz="1800" u="none" strike="noStrike" kern="1200" dirty="0" err="1">
                          <a:solidFill>
                            <a:schemeClr val="bg1"/>
                          </a:solidFill>
                          <a:effectLst/>
                          <a:latin typeface="+mn-lt"/>
                          <a:ea typeface="+mn-ea"/>
                          <a:cs typeface="+mn-cs"/>
                        </a:rPr>
                        <a:t>CanalVenta</a:t>
                      </a:r>
                      <a:endParaRPr lang="es-ES" sz="1800" u="none" strike="noStrike" kern="1200" dirty="0">
                        <a:solidFill>
                          <a:schemeClr val="bg1"/>
                        </a:solidFill>
                        <a:effectLst/>
                        <a:latin typeface="+mn-lt"/>
                        <a:ea typeface="+mn-ea"/>
                        <a:cs typeface="+mn-cs"/>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800" u="none" strike="noStrike" kern="1200" dirty="0" err="1">
                          <a:solidFill>
                            <a:schemeClr val="bg1"/>
                          </a:solidFill>
                          <a:effectLst/>
                          <a:latin typeface="+mn-lt"/>
                          <a:ea typeface="+mn-ea"/>
                          <a:cs typeface="+mn-cs"/>
                        </a:rPr>
                        <a:t>DescuentoPromedio</a:t>
                      </a:r>
                      <a:endParaRPr lang="es-ES" sz="1800" u="none" strike="noStrike" kern="1200" dirty="0">
                        <a:solidFill>
                          <a:schemeClr val="bg1"/>
                        </a:solidFill>
                        <a:effectLst/>
                        <a:latin typeface="+mn-lt"/>
                        <a:ea typeface="+mn-ea"/>
                        <a:cs typeface="+mn-cs"/>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800" u="none" strike="noStrike" kern="1200" dirty="0" err="1">
                          <a:solidFill>
                            <a:schemeClr val="bg1"/>
                          </a:solidFill>
                          <a:effectLst/>
                          <a:latin typeface="+mn-lt"/>
                          <a:ea typeface="+mn-ea"/>
                          <a:cs typeface="+mn-cs"/>
                        </a:rPr>
                        <a:t>VentasNetas</a:t>
                      </a:r>
                      <a:endParaRPr lang="es-ES" sz="1800" u="none" strike="noStrike" kern="1200" dirty="0">
                        <a:solidFill>
                          <a:schemeClr val="bg1"/>
                        </a:solidFill>
                        <a:effectLst/>
                        <a:latin typeface="+mn-lt"/>
                        <a:ea typeface="+mn-ea"/>
                        <a:cs typeface="+mn-cs"/>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2232827269"/>
                  </a:ext>
                </a:extLst>
              </a:tr>
              <a:tr h="190500">
                <a:tc>
                  <a:txBody>
                    <a:bodyPr/>
                    <a:lstStyle/>
                    <a:p>
                      <a:pPr marL="0" algn="l" defTabSz="914400" rtl="0" eaLnBrk="1" fontAlgn="b" latinLnBrk="0" hangingPunct="1"/>
                      <a:r>
                        <a:rPr lang="es-ES" sz="1200" u="none" strike="noStrike" kern="1200" dirty="0">
                          <a:solidFill>
                            <a:srgbClr val="FFC000"/>
                          </a:solidFill>
                          <a:effectLst/>
                          <a:latin typeface="+mn-lt"/>
                          <a:ea typeface="+mn-ea"/>
                          <a:cs typeface="+mn-cs"/>
                        </a:rPr>
                        <a:t>Mayorista</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200" u="none" strike="noStrike" kern="1200" dirty="0">
                          <a:solidFill>
                            <a:srgbClr val="FFC000"/>
                          </a:solidFill>
                          <a:effectLst/>
                          <a:latin typeface="+mn-lt"/>
                          <a:ea typeface="+mn-ea"/>
                          <a:cs typeface="+mn-cs"/>
                        </a:rPr>
                        <a:t>4.2</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200" u="none" strike="noStrike" kern="1200" dirty="0">
                          <a:solidFill>
                            <a:srgbClr val="FFC000"/>
                          </a:solidFill>
                          <a:effectLst/>
                          <a:latin typeface="+mn-lt"/>
                          <a:ea typeface="+mn-ea"/>
                          <a:cs typeface="+mn-cs"/>
                        </a:rPr>
                        <a:t>1250540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4080326099"/>
                  </a:ext>
                </a:extLst>
              </a:tr>
              <a:tr h="190500">
                <a:tc>
                  <a:txBody>
                    <a:bodyPr/>
                    <a:lstStyle/>
                    <a:p>
                      <a:pPr marL="0" algn="l" defTabSz="914400" rtl="0" eaLnBrk="1" fontAlgn="b" latinLnBrk="0" hangingPunct="1"/>
                      <a:r>
                        <a:rPr lang="es-ES" sz="1200" u="none" strike="noStrike" kern="1200" dirty="0">
                          <a:solidFill>
                            <a:schemeClr val="accent2">
                              <a:lumMod val="60000"/>
                              <a:lumOff val="40000"/>
                            </a:schemeClr>
                          </a:solidFill>
                          <a:effectLst/>
                          <a:latin typeface="+mn-lt"/>
                          <a:ea typeface="+mn-ea"/>
                          <a:cs typeface="+mn-cs"/>
                        </a:rPr>
                        <a:t>Online</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200" u="none" strike="noStrike" kern="1200">
                          <a:solidFill>
                            <a:schemeClr val="accent2">
                              <a:lumMod val="60000"/>
                              <a:lumOff val="40000"/>
                            </a:schemeClr>
                          </a:solidFill>
                          <a:effectLst/>
                          <a:latin typeface="+mn-lt"/>
                          <a:ea typeface="+mn-ea"/>
                          <a:cs typeface="+mn-cs"/>
                        </a:rPr>
                        <a:t>3.8</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200" u="none" strike="noStrike" kern="1200" dirty="0">
                          <a:solidFill>
                            <a:schemeClr val="accent2">
                              <a:lumMod val="60000"/>
                              <a:lumOff val="40000"/>
                            </a:schemeClr>
                          </a:solidFill>
                          <a:effectLst/>
                          <a:latin typeface="+mn-lt"/>
                          <a:ea typeface="+mn-ea"/>
                          <a:cs typeface="+mn-cs"/>
                        </a:rPr>
                        <a:t>172941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1010234976"/>
                  </a:ext>
                </a:extLst>
              </a:tr>
              <a:tr h="190500">
                <a:tc>
                  <a:txBody>
                    <a:bodyPr/>
                    <a:lstStyle/>
                    <a:p>
                      <a:pPr marL="0" algn="l" defTabSz="914400" rtl="0" eaLnBrk="1" fontAlgn="b" latinLnBrk="0" hangingPunct="1"/>
                      <a:r>
                        <a:rPr lang="es-ES" sz="1200" u="none" strike="noStrike" kern="1200" dirty="0">
                          <a:solidFill>
                            <a:schemeClr val="accent2">
                              <a:lumMod val="60000"/>
                              <a:lumOff val="40000"/>
                            </a:schemeClr>
                          </a:solidFill>
                          <a:effectLst/>
                          <a:latin typeface="+mn-lt"/>
                          <a:ea typeface="+mn-ea"/>
                          <a:cs typeface="+mn-cs"/>
                        </a:rPr>
                        <a:t>Minorista</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200" u="none" strike="noStrike" kern="1200">
                          <a:solidFill>
                            <a:schemeClr val="accent2">
                              <a:lumMod val="60000"/>
                              <a:lumOff val="40000"/>
                            </a:schemeClr>
                          </a:solidFill>
                          <a:effectLst/>
                          <a:latin typeface="+mn-lt"/>
                          <a:ea typeface="+mn-ea"/>
                          <a:cs typeface="+mn-cs"/>
                        </a:rPr>
                        <a:t>2.0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200" u="none" strike="noStrike" kern="1200" dirty="0">
                          <a:solidFill>
                            <a:schemeClr val="accent2">
                              <a:lumMod val="60000"/>
                              <a:lumOff val="40000"/>
                            </a:schemeClr>
                          </a:solidFill>
                          <a:effectLst/>
                          <a:latin typeface="+mn-lt"/>
                          <a:ea typeface="+mn-ea"/>
                          <a:cs typeface="+mn-cs"/>
                        </a:rPr>
                        <a:t>67103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3916208343"/>
                  </a:ext>
                </a:extLst>
              </a:tr>
              <a:tr h="190500">
                <a:tc>
                  <a:txBody>
                    <a:bodyPr/>
                    <a:lstStyle/>
                    <a:p>
                      <a:pPr marL="0" algn="l" defTabSz="914400" rtl="0" eaLnBrk="1" fontAlgn="b" latinLnBrk="0" hangingPunct="1"/>
                      <a:r>
                        <a:rPr lang="es-ES" sz="1200" u="none" strike="noStrike" kern="1200" dirty="0">
                          <a:solidFill>
                            <a:schemeClr val="accent2">
                              <a:lumMod val="60000"/>
                              <a:lumOff val="40000"/>
                            </a:schemeClr>
                          </a:solidFill>
                          <a:effectLst/>
                          <a:latin typeface="+mn-lt"/>
                          <a:ea typeface="+mn-ea"/>
                          <a:cs typeface="+mn-cs"/>
                        </a:rPr>
                        <a:t>Corporativo</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200" u="none" strike="noStrike" kern="1200">
                          <a:solidFill>
                            <a:schemeClr val="accent2">
                              <a:lumMod val="60000"/>
                              <a:lumOff val="40000"/>
                            </a:schemeClr>
                          </a:solidFill>
                          <a:effectLst/>
                          <a:latin typeface="+mn-lt"/>
                          <a:ea typeface="+mn-ea"/>
                          <a:cs typeface="+mn-cs"/>
                        </a:rPr>
                        <a:t>1.7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200" u="none" strike="noStrike" kern="1200" dirty="0">
                          <a:solidFill>
                            <a:schemeClr val="accent2">
                              <a:lumMod val="60000"/>
                              <a:lumOff val="40000"/>
                            </a:schemeClr>
                          </a:solidFill>
                          <a:effectLst/>
                          <a:latin typeface="+mn-lt"/>
                          <a:ea typeface="+mn-ea"/>
                          <a:cs typeface="+mn-cs"/>
                        </a:rPr>
                        <a:t>202163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3892202663"/>
                  </a:ext>
                </a:extLst>
              </a:tr>
              <a:tr h="190500">
                <a:tc>
                  <a:txBody>
                    <a:bodyPr/>
                    <a:lstStyle/>
                    <a:p>
                      <a:pPr marL="0" algn="l" defTabSz="914400" rtl="0" eaLnBrk="1" fontAlgn="b" latinLnBrk="0" hangingPunct="1"/>
                      <a:r>
                        <a:rPr lang="es-ES" sz="1200" u="none" strike="noStrike" kern="1200" dirty="0">
                          <a:solidFill>
                            <a:schemeClr val="accent2">
                              <a:lumMod val="60000"/>
                              <a:lumOff val="40000"/>
                            </a:schemeClr>
                          </a:solidFill>
                          <a:effectLst/>
                          <a:latin typeface="+mn-lt"/>
                          <a:ea typeface="+mn-ea"/>
                          <a:cs typeface="+mn-cs"/>
                        </a:rPr>
                        <a:t>Directo</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200" u="none" strike="noStrike" kern="1200" dirty="0">
                          <a:solidFill>
                            <a:schemeClr val="accent2">
                              <a:lumMod val="60000"/>
                              <a:lumOff val="40000"/>
                            </a:schemeClr>
                          </a:solidFill>
                          <a:effectLst/>
                          <a:latin typeface="+mn-lt"/>
                          <a:ea typeface="+mn-ea"/>
                          <a:cs typeface="+mn-cs"/>
                        </a:rPr>
                        <a:t>0.5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marL="0" algn="l" defTabSz="914400" rtl="0" eaLnBrk="1" fontAlgn="b" latinLnBrk="0" hangingPunct="1"/>
                      <a:r>
                        <a:rPr lang="es-ES" sz="1200" u="none" strike="noStrike" kern="1200" dirty="0">
                          <a:solidFill>
                            <a:schemeClr val="accent2">
                              <a:lumMod val="60000"/>
                              <a:lumOff val="40000"/>
                            </a:schemeClr>
                          </a:solidFill>
                          <a:effectLst/>
                          <a:latin typeface="+mn-lt"/>
                          <a:ea typeface="+mn-ea"/>
                          <a:cs typeface="+mn-cs"/>
                        </a:rPr>
                        <a:t>251095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4211732204"/>
                  </a:ext>
                </a:extLst>
              </a:tr>
            </a:tbl>
          </a:graphicData>
        </a:graphic>
      </p:graphicFrame>
      <p:sp>
        <p:nvSpPr>
          <p:cNvPr id="8" name="TextBox 7">
            <a:extLst>
              <a:ext uri="{FF2B5EF4-FFF2-40B4-BE49-F238E27FC236}">
                <a16:creationId xmlns:a16="http://schemas.microsoft.com/office/drawing/2014/main" id="{EC974194-DD95-EBEE-4FBE-80D53551790C}"/>
              </a:ext>
            </a:extLst>
          </p:cNvPr>
          <p:cNvSpPr txBox="1"/>
          <p:nvPr/>
        </p:nvSpPr>
        <p:spPr>
          <a:xfrm>
            <a:off x="4019552" y="4921298"/>
            <a:ext cx="7548671" cy="1160702"/>
          </a:xfrm>
          <a:prstGeom prst="rect">
            <a:avLst/>
          </a:prstGeom>
          <a:noFill/>
        </p:spPr>
        <p:txBody>
          <a:bodyPr wrap="square">
            <a:spAutoFit/>
          </a:bodyPr>
          <a:lstStyle/>
          <a:p>
            <a:pPr lvl="0">
              <a:lnSpc>
                <a:spcPct val="150000"/>
              </a:lnSpc>
              <a:spcBef>
                <a:spcPts val="525"/>
              </a:spcBef>
              <a:spcAft>
                <a:spcPts val="525"/>
              </a:spcAft>
              <a:tabLst>
                <a:tab pos="571500" algn="l"/>
              </a:tabLst>
            </a:pPr>
            <a:r>
              <a:rPr lang="es-ES" sz="1600" dirty="0">
                <a:solidFill>
                  <a:schemeClr val="accent2">
                    <a:lumMod val="60000"/>
                    <a:lumOff val="40000"/>
                  </a:schemeClr>
                </a:solidFill>
                <a:effectLst/>
                <a:latin typeface="source serif 4"/>
                <a:ea typeface="source serif 4"/>
                <a:cs typeface="source serif 4"/>
              </a:rPr>
              <a:t>No temer la concentración en el </a:t>
            </a:r>
            <a:r>
              <a:rPr lang="es-ES" sz="1600" dirty="0">
                <a:solidFill>
                  <a:srgbClr val="FFC000"/>
                </a:solidFill>
                <a:effectLst/>
                <a:latin typeface="source serif 4"/>
                <a:ea typeface="source serif 4"/>
                <a:cs typeface="source serif 4"/>
              </a:rPr>
              <a:t>canal Mayorista </a:t>
            </a:r>
            <a:r>
              <a:rPr lang="es-ES" sz="1600" dirty="0">
                <a:solidFill>
                  <a:schemeClr val="accent2">
                    <a:lumMod val="60000"/>
                    <a:lumOff val="40000"/>
                  </a:schemeClr>
                </a:solidFill>
                <a:effectLst/>
                <a:latin typeface="source serif 4"/>
                <a:ea typeface="source serif 4"/>
                <a:cs typeface="source serif 4"/>
              </a:rPr>
              <a:t>y priorizarla como eje comercial. La exposición a este canal de Venta, puede ser provechoso si se optimiza su operatividad. Ejemplo, hay mucho margen en optimizar los descuentos en este canal</a:t>
            </a:r>
            <a:endParaRPr lang="es-ES" sz="1600" dirty="0">
              <a:solidFill>
                <a:schemeClr val="accent2">
                  <a:lumMod val="60000"/>
                  <a:lumOff val="40000"/>
                </a:schemeClr>
              </a:solidFill>
              <a:effectLst/>
              <a:latin typeface="Georgia" panose="02040502050405020303" pitchFamily="18"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4243F556-EBF0-5BC8-592F-108783CCE314}"/>
              </a:ext>
            </a:extLst>
          </p:cNvPr>
          <p:cNvSpPr txBox="1"/>
          <p:nvPr/>
        </p:nvSpPr>
        <p:spPr>
          <a:xfrm>
            <a:off x="1979281" y="3336523"/>
            <a:ext cx="1909990" cy="338554"/>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pPr algn="r"/>
            <a:r>
              <a:rPr lang="es-ES" sz="1600" dirty="0">
                <a:solidFill>
                  <a:schemeClr val="bg1"/>
                </a:solidFill>
              </a:rPr>
              <a:t>consulta SQL</a:t>
            </a:r>
          </a:p>
        </p:txBody>
      </p:sp>
      <p:sp>
        <p:nvSpPr>
          <p:cNvPr id="11" name="TextBox 10">
            <a:extLst>
              <a:ext uri="{FF2B5EF4-FFF2-40B4-BE49-F238E27FC236}">
                <a16:creationId xmlns:a16="http://schemas.microsoft.com/office/drawing/2014/main" id="{47771EAD-54AC-F3A0-A77E-08FD6887DAF7}"/>
              </a:ext>
            </a:extLst>
          </p:cNvPr>
          <p:cNvSpPr txBox="1"/>
          <p:nvPr/>
        </p:nvSpPr>
        <p:spPr>
          <a:xfrm>
            <a:off x="1771087" y="135798"/>
            <a:ext cx="5208920" cy="2554545"/>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r>
              <a:rPr lang="es-ES" dirty="0"/>
              <a:t>Oportunidades Verdes</a:t>
            </a:r>
          </a:p>
        </p:txBody>
      </p:sp>
      <p:sp>
        <p:nvSpPr>
          <p:cNvPr id="14" name="TextBox 13">
            <a:extLst>
              <a:ext uri="{FF2B5EF4-FFF2-40B4-BE49-F238E27FC236}">
                <a16:creationId xmlns:a16="http://schemas.microsoft.com/office/drawing/2014/main" id="{57F28F3A-390E-3ABA-644B-CE7D9C18C289}"/>
              </a:ext>
            </a:extLst>
          </p:cNvPr>
          <p:cNvSpPr txBox="1"/>
          <p:nvPr/>
        </p:nvSpPr>
        <p:spPr>
          <a:xfrm>
            <a:off x="-3201817" y="5049399"/>
            <a:ext cx="3207203" cy="830997"/>
          </a:xfrm>
          <a:prstGeom prst="rect">
            <a:avLst/>
          </a:prstGeom>
          <a:noFill/>
        </p:spPr>
        <p:txBody>
          <a:bodyPr wrap="square">
            <a:spAutoFit/>
          </a:bodyPr>
          <a:lstStyle>
            <a:defPPr>
              <a:defRPr lang="es-ES"/>
            </a:defPPr>
            <a:lvl1pPr>
              <a:defRPr sz="8000" b="1">
                <a:solidFill>
                  <a:srgbClr val="F5D055"/>
                </a:solidFill>
                <a:effectLst/>
                <a:latin typeface="Bahnschrift Condensed" panose="020B0502040204020203" pitchFamily="34" charset="0"/>
                <a:ea typeface="menlo"/>
                <a:cs typeface="menlo"/>
              </a:defRPr>
            </a:lvl1pPr>
          </a:lstStyle>
          <a:p>
            <a:pPr algn="r"/>
            <a:r>
              <a:rPr lang="es-ES" sz="4800" dirty="0">
                <a:solidFill>
                  <a:srgbClr val="C00000">
                    <a:alpha val="0"/>
                  </a:srgbClr>
                </a:solidFill>
              </a:rPr>
              <a:t>Alertas rojas</a:t>
            </a:r>
          </a:p>
        </p:txBody>
      </p:sp>
      <p:sp>
        <p:nvSpPr>
          <p:cNvPr id="15" name="TextBox 14">
            <a:extLst>
              <a:ext uri="{FF2B5EF4-FFF2-40B4-BE49-F238E27FC236}">
                <a16:creationId xmlns:a16="http://schemas.microsoft.com/office/drawing/2014/main" id="{7FE6FAC1-2F08-159D-87D6-476751DA98D8}"/>
              </a:ext>
            </a:extLst>
          </p:cNvPr>
          <p:cNvSpPr txBox="1"/>
          <p:nvPr/>
        </p:nvSpPr>
        <p:spPr>
          <a:xfrm>
            <a:off x="-214896" y="4945493"/>
            <a:ext cx="4104167" cy="400110"/>
          </a:xfrm>
          <a:prstGeom prst="rect">
            <a:avLst/>
          </a:prstGeom>
          <a:noFill/>
        </p:spPr>
        <p:txBody>
          <a:bodyPr wrap="square">
            <a:spAutoFit/>
          </a:bodyPr>
          <a:lstStyle>
            <a:defPPr>
              <a:defRPr lang="es-ES"/>
            </a:defPPr>
            <a:lvl1pPr algn="r">
              <a:defRPr sz="4000" b="1">
                <a:solidFill>
                  <a:schemeClr val="accent6">
                    <a:lumMod val="75000"/>
                  </a:schemeClr>
                </a:solidFill>
                <a:effectLst/>
                <a:latin typeface="Bahnschrift Condensed" panose="020B0502040204020203" pitchFamily="34" charset="0"/>
                <a:ea typeface="menlo"/>
                <a:cs typeface="menlo"/>
              </a:defRPr>
            </a:lvl1pPr>
          </a:lstStyle>
          <a:p>
            <a:r>
              <a:rPr lang="es-ES" sz="2000" dirty="0"/>
              <a:t>Priorizar el canal Mayorista </a:t>
            </a:r>
          </a:p>
        </p:txBody>
      </p:sp>
    </p:spTree>
    <p:extLst>
      <p:ext uri="{BB962C8B-B14F-4D97-AF65-F5344CB8AC3E}">
        <p14:creationId xmlns:p14="http://schemas.microsoft.com/office/powerpoint/2010/main" val="968220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1372724-D475-1B4C-426C-31A6AB9565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noFill/>
        </p:spPr>
      </p:pic>
      <p:sp>
        <p:nvSpPr>
          <p:cNvPr id="15" name="Rectangle 14">
            <a:extLst>
              <a:ext uri="{FF2B5EF4-FFF2-40B4-BE49-F238E27FC236}">
                <a16:creationId xmlns:a16="http://schemas.microsoft.com/office/drawing/2014/main" id="{3E7F20B4-5E0D-123F-DF76-D6E547FD056A}"/>
              </a:ext>
            </a:extLst>
          </p:cNvPr>
          <p:cNvSpPr/>
          <p:nvPr/>
        </p:nvSpPr>
        <p:spPr>
          <a:xfrm>
            <a:off x="1405" y="2538760"/>
            <a:ext cx="12192000" cy="4380614"/>
          </a:xfrm>
          <a:prstGeom prst="rect">
            <a:avLst/>
          </a:prstGeom>
          <a:gradFill flip="none" rotWithShape="1">
            <a:gsLst>
              <a:gs pos="100000">
                <a:schemeClr val="tx1"/>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extBox 1">
            <a:extLst>
              <a:ext uri="{FF2B5EF4-FFF2-40B4-BE49-F238E27FC236}">
                <a16:creationId xmlns:a16="http://schemas.microsoft.com/office/drawing/2014/main" id="{0B42E83E-0B1B-EDAB-F9A5-CCFA2C26CABB}"/>
              </a:ext>
            </a:extLst>
          </p:cNvPr>
          <p:cNvSpPr txBox="1"/>
          <p:nvPr/>
        </p:nvSpPr>
        <p:spPr>
          <a:xfrm>
            <a:off x="7427286" y="-1398762"/>
            <a:ext cx="6624176" cy="3154710"/>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19900" b="1" dirty="0">
                <a:solidFill>
                  <a:schemeClr val="bg1">
                    <a:alpha val="10000"/>
                  </a:schemeClr>
                </a:solidFill>
                <a:latin typeface="Bahnschrift Condensed" panose="020B0502040204020203" pitchFamily="34" charset="0"/>
              </a:rPr>
              <a:t>IBERIA</a:t>
            </a:r>
          </a:p>
        </p:txBody>
      </p:sp>
      <p:sp>
        <p:nvSpPr>
          <p:cNvPr id="3" name="TextBox 2">
            <a:extLst>
              <a:ext uri="{FF2B5EF4-FFF2-40B4-BE49-F238E27FC236}">
                <a16:creationId xmlns:a16="http://schemas.microsoft.com/office/drawing/2014/main" id="{E944BF58-936B-089A-5C46-E42C791F2486}"/>
              </a:ext>
            </a:extLst>
          </p:cNvPr>
          <p:cNvSpPr txBox="1"/>
          <p:nvPr/>
        </p:nvSpPr>
        <p:spPr>
          <a:xfrm>
            <a:off x="1771087" y="135798"/>
            <a:ext cx="5208920" cy="2554545"/>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r>
              <a:rPr lang="es-ES" dirty="0"/>
              <a:t>Oportunidades Verdes</a:t>
            </a:r>
          </a:p>
        </p:txBody>
      </p:sp>
      <p:sp>
        <p:nvSpPr>
          <p:cNvPr id="10" name="TextBox 9">
            <a:extLst>
              <a:ext uri="{FF2B5EF4-FFF2-40B4-BE49-F238E27FC236}">
                <a16:creationId xmlns:a16="http://schemas.microsoft.com/office/drawing/2014/main" id="{5F51AD2C-B0DA-DCAF-A4D6-61477AC73A25}"/>
              </a:ext>
            </a:extLst>
          </p:cNvPr>
          <p:cNvSpPr txBox="1"/>
          <p:nvPr/>
        </p:nvSpPr>
        <p:spPr>
          <a:xfrm>
            <a:off x="-214896" y="4943987"/>
            <a:ext cx="4104167" cy="400110"/>
          </a:xfrm>
          <a:prstGeom prst="rect">
            <a:avLst/>
          </a:prstGeom>
          <a:noFill/>
        </p:spPr>
        <p:txBody>
          <a:bodyPr wrap="square">
            <a:spAutoFit/>
          </a:bodyPr>
          <a:lstStyle>
            <a:defPPr>
              <a:defRPr lang="es-ES"/>
            </a:defPPr>
            <a:lvl1pPr algn="r">
              <a:defRPr sz="4000" b="1">
                <a:solidFill>
                  <a:schemeClr val="accent6">
                    <a:lumMod val="75000"/>
                  </a:schemeClr>
                </a:solidFill>
                <a:effectLst/>
                <a:latin typeface="Bahnschrift Condensed" panose="020B0502040204020203" pitchFamily="34" charset="0"/>
                <a:ea typeface="menlo"/>
                <a:cs typeface="menlo"/>
              </a:defRPr>
            </a:lvl1pPr>
          </a:lstStyle>
          <a:p>
            <a:r>
              <a:rPr lang="es-ES" sz="2000" dirty="0"/>
              <a:t>Optimizar Canales </a:t>
            </a:r>
          </a:p>
        </p:txBody>
      </p:sp>
      <p:sp>
        <p:nvSpPr>
          <p:cNvPr id="14" name="TextBox 13">
            <a:extLst>
              <a:ext uri="{FF2B5EF4-FFF2-40B4-BE49-F238E27FC236}">
                <a16:creationId xmlns:a16="http://schemas.microsoft.com/office/drawing/2014/main" id="{DD886CCD-7BD4-7470-FD3F-95D0290C751F}"/>
              </a:ext>
            </a:extLst>
          </p:cNvPr>
          <p:cNvSpPr txBox="1"/>
          <p:nvPr/>
        </p:nvSpPr>
        <p:spPr>
          <a:xfrm>
            <a:off x="4019552" y="4921298"/>
            <a:ext cx="7548671" cy="1658274"/>
          </a:xfrm>
          <a:prstGeom prst="rect">
            <a:avLst/>
          </a:prstGeom>
          <a:noFill/>
        </p:spPr>
        <p:txBody>
          <a:bodyPr wrap="square">
            <a:spAutoFit/>
          </a:bodyPr>
          <a:lstStyle/>
          <a:p>
            <a:pPr lvl="0">
              <a:lnSpc>
                <a:spcPct val="150000"/>
              </a:lnSpc>
              <a:spcBef>
                <a:spcPts val="525"/>
              </a:spcBef>
              <a:spcAft>
                <a:spcPts val="525"/>
              </a:spcAft>
              <a:tabLst>
                <a:tab pos="571500" algn="l"/>
              </a:tabLst>
            </a:pPr>
            <a:r>
              <a:rPr lang="es-ES" sz="1600" dirty="0">
                <a:solidFill>
                  <a:schemeClr val="accent2">
                    <a:lumMod val="60000"/>
                    <a:lumOff val="40000"/>
                  </a:schemeClr>
                </a:solidFill>
                <a:effectLst/>
                <a:latin typeface="source serif 4"/>
                <a:ea typeface="source serif 4"/>
                <a:cs typeface="source serif 4"/>
              </a:rPr>
              <a:t>En este caso se tienen dos posibilidades, migrar clientes de Mayorista a Directo, buscando descuentos mínimos, o</a:t>
            </a:r>
            <a:r>
              <a:rPr lang="en-US" sz="1600" dirty="0">
                <a:solidFill>
                  <a:schemeClr val="accent2">
                    <a:lumMod val="60000"/>
                    <a:lumOff val="40000"/>
                  </a:schemeClr>
                </a:solidFill>
                <a:effectLst/>
                <a:latin typeface="source serif 4"/>
                <a:ea typeface="source serif 4"/>
                <a:cs typeface="source serif 4"/>
              </a:rPr>
              <a:t>;</a:t>
            </a:r>
          </a:p>
          <a:p>
            <a:pPr lvl="0">
              <a:lnSpc>
                <a:spcPct val="150000"/>
              </a:lnSpc>
              <a:spcBef>
                <a:spcPts val="525"/>
              </a:spcBef>
              <a:spcAft>
                <a:spcPts val="525"/>
              </a:spcAft>
              <a:tabLst>
                <a:tab pos="571500" algn="l"/>
              </a:tabLst>
            </a:pPr>
            <a:r>
              <a:rPr lang="es-ES" sz="1600" noProof="0" dirty="0">
                <a:solidFill>
                  <a:schemeClr val="accent2">
                    <a:lumMod val="60000"/>
                    <a:lumOff val="40000"/>
                  </a:schemeClr>
                </a:solidFill>
                <a:latin typeface="source serif 4"/>
                <a:ea typeface="Calibri" panose="020F0502020204030204" pitchFamily="34" charset="0"/>
                <a:cs typeface="Times New Roman" panose="02020603050405020304" pitchFamily="18" charset="0"/>
              </a:rPr>
              <a:t>Migrar la mayoría de clientes hacia Mayorista, si y silo si, se logra optimizar este canal de ventas con los descuentos que presenta el canal Directo</a:t>
            </a:r>
            <a:endParaRPr lang="es-ES" sz="1600" noProof="0" dirty="0">
              <a:solidFill>
                <a:schemeClr val="accent2">
                  <a:lumMod val="60000"/>
                  <a:lumOff val="40000"/>
                </a:schemeClr>
              </a:solidFill>
              <a:effectLst/>
              <a:latin typeface="Georgia" panose="02040502050405020303" pitchFamily="18" charset="0"/>
              <a:ea typeface="Calibri" panose="020F0502020204030204" pitchFamily="34" charset="0"/>
              <a:cs typeface="Times New Roman" panose="02020603050405020304" pitchFamily="18" charset="0"/>
            </a:endParaRPr>
          </a:p>
        </p:txBody>
      </p:sp>
      <p:graphicFrame>
        <p:nvGraphicFramePr>
          <p:cNvPr id="23" name="Chart 22">
            <a:extLst>
              <a:ext uri="{FF2B5EF4-FFF2-40B4-BE49-F238E27FC236}">
                <a16:creationId xmlns:a16="http://schemas.microsoft.com/office/drawing/2014/main" id="{03BAEC54-A8EE-1D4A-8A9A-59B229CD031E}"/>
              </a:ext>
            </a:extLst>
          </p:cNvPr>
          <p:cNvGraphicFramePr>
            <a:graphicFrameLocks/>
          </p:cNvGraphicFramePr>
          <p:nvPr>
            <p:extLst>
              <p:ext uri="{D42A27DB-BD31-4B8C-83A1-F6EECF244321}">
                <p14:modId xmlns:p14="http://schemas.microsoft.com/office/powerpoint/2010/main" val="208113059"/>
              </p:ext>
            </p:extLst>
          </p:nvPr>
        </p:nvGraphicFramePr>
        <p:xfrm>
          <a:off x="5023027" y="1446028"/>
          <a:ext cx="6874812" cy="3526011"/>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23">
            <a:extLst>
              <a:ext uri="{FF2B5EF4-FFF2-40B4-BE49-F238E27FC236}">
                <a16:creationId xmlns:a16="http://schemas.microsoft.com/office/drawing/2014/main" id="{351FAA61-5DBC-1B28-A073-E8343F21F2FB}"/>
              </a:ext>
            </a:extLst>
          </p:cNvPr>
          <p:cNvSpPr txBox="1"/>
          <p:nvPr/>
        </p:nvSpPr>
        <p:spPr>
          <a:xfrm>
            <a:off x="1979281" y="3336523"/>
            <a:ext cx="1909990" cy="338554"/>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pPr algn="r"/>
            <a:r>
              <a:rPr lang="es-ES" sz="1600" dirty="0">
                <a:solidFill>
                  <a:schemeClr val="bg1"/>
                </a:solidFill>
              </a:rPr>
              <a:t>consulta </a:t>
            </a:r>
            <a:r>
              <a:rPr lang="es-ES" sz="1600" dirty="0" err="1">
                <a:solidFill>
                  <a:schemeClr val="bg1"/>
                </a:solidFill>
              </a:rPr>
              <a:t>Power</a:t>
            </a:r>
            <a:r>
              <a:rPr lang="es-ES" sz="1600" dirty="0">
                <a:solidFill>
                  <a:schemeClr val="bg1"/>
                </a:solidFill>
              </a:rPr>
              <a:t> BI</a:t>
            </a:r>
          </a:p>
        </p:txBody>
      </p:sp>
    </p:spTree>
    <p:extLst>
      <p:ext uri="{BB962C8B-B14F-4D97-AF65-F5344CB8AC3E}">
        <p14:creationId xmlns:p14="http://schemas.microsoft.com/office/powerpoint/2010/main" val="6941787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511B8F-BECD-FDAC-8383-593B097A80F7}"/>
              </a:ext>
            </a:extLst>
          </p:cNvPr>
          <p:cNvPicPr>
            <a:picLocks noChangeAspect="1"/>
          </p:cNvPicPr>
          <p:nvPr/>
        </p:nvPicPr>
        <p:blipFill rotWithShape="1">
          <a:blip r:embed="rId2">
            <a:extLst>
              <a:ext uri="{28A0092B-C50C-407E-A947-70E740481C1C}">
                <a14:useLocalDpi xmlns:a14="http://schemas.microsoft.com/office/drawing/2010/main" val="0"/>
              </a:ext>
            </a:extLst>
          </a:blip>
          <a:srcRect r="50000"/>
          <a:stretch/>
        </p:blipFill>
        <p:spPr>
          <a:xfrm>
            <a:off x="0" y="0"/>
            <a:ext cx="6096000" cy="6858000"/>
          </a:xfrm>
          <a:prstGeom prst="rect">
            <a:avLst/>
          </a:prstGeom>
        </p:spPr>
      </p:pic>
      <p:pic>
        <p:nvPicPr>
          <p:cNvPr id="9" name="Picture 8">
            <a:extLst>
              <a:ext uri="{FF2B5EF4-FFF2-40B4-BE49-F238E27FC236}">
                <a16:creationId xmlns:a16="http://schemas.microsoft.com/office/drawing/2014/main" id="{B2FDB73B-DD84-4761-CD91-E4F58717F245}"/>
              </a:ext>
            </a:extLst>
          </p:cNvPr>
          <p:cNvPicPr>
            <a:picLocks noChangeAspect="1"/>
          </p:cNvPicPr>
          <p:nvPr/>
        </p:nvPicPr>
        <p:blipFill rotWithShape="1">
          <a:blip r:embed="rId2">
            <a:extLst>
              <a:ext uri="{28A0092B-C50C-407E-A947-70E740481C1C}">
                <a14:useLocalDpi xmlns:a14="http://schemas.microsoft.com/office/drawing/2010/main" val="0"/>
              </a:ext>
            </a:extLst>
          </a:blip>
          <a:srcRect l="50000"/>
          <a:stretch/>
        </p:blipFill>
        <p:spPr>
          <a:xfrm>
            <a:off x="6096000" y="-32"/>
            <a:ext cx="6096000" cy="6858000"/>
          </a:xfrm>
          <a:prstGeom prst="rect">
            <a:avLst/>
          </a:prstGeom>
        </p:spPr>
      </p:pic>
      <p:pic>
        <p:nvPicPr>
          <p:cNvPr id="11" name="Picture 10">
            <a:extLst>
              <a:ext uri="{FF2B5EF4-FFF2-40B4-BE49-F238E27FC236}">
                <a16:creationId xmlns:a16="http://schemas.microsoft.com/office/drawing/2014/main" id="{B1372724-D475-1B4C-426C-31A6AB9565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a:noFill/>
        </p:spPr>
      </p:pic>
      <p:sp>
        <p:nvSpPr>
          <p:cNvPr id="15" name="Rectangle 14">
            <a:extLst>
              <a:ext uri="{FF2B5EF4-FFF2-40B4-BE49-F238E27FC236}">
                <a16:creationId xmlns:a16="http://schemas.microsoft.com/office/drawing/2014/main" id="{3E7F20B4-5E0D-123F-DF76-D6E547FD056A}"/>
              </a:ext>
            </a:extLst>
          </p:cNvPr>
          <p:cNvSpPr/>
          <p:nvPr/>
        </p:nvSpPr>
        <p:spPr>
          <a:xfrm>
            <a:off x="1405" y="2538760"/>
            <a:ext cx="12192000" cy="4380614"/>
          </a:xfrm>
          <a:prstGeom prst="rect">
            <a:avLst/>
          </a:prstGeom>
          <a:gradFill flip="none" rotWithShape="1">
            <a:gsLst>
              <a:gs pos="100000">
                <a:schemeClr val="tx1"/>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extBox 1">
            <a:extLst>
              <a:ext uri="{FF2B5EF4-FFF2-40B4-BE49-F238E27FC236}">
                <a16:creationId xmlns:a16="http://schemas.microsoft.com/office/drawing/2014/main" id="{0B42E83E-0B1B-EDAB-F9A5-CCFA2C26CABB}"/>
              </a:ext>
            </a:extLst>
          </p:cNvPr>
          <p:cNvSpPr txBox="1"/>
          <p:nvPr/>
        </p:nvSpPr>
        <p:spPr>
          <a:xfrm>
            <a:off x="7427286" y="-1398762"/>
            <a:ext cx="6624176" cy="3154710"/>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19900" b="1" dirty="0">
                <a:solidFill>
                  <a:schemeClr val="bg1">
                    <a:alpha val="10000"/>
                  </a:schemeClr>
                </a:solidFill>
                <a:latin typeface="Bahnschrift Condensed" panose="020B0502040204020203" pitchFamily="34" charset="0"/>
              </a:rPr>
              <a:t>IBERIA</a:t>
            </a:r>
          </a:p>
        </p:txBody>
      </p:sp>
      <p:sp>
        <p:nvSpPr>
          <p:cNvPr id="3" name="TextBox 2">
            <a:extLst>
              <a:ext uri="{FF2B5EF4-FFF2-40B4-BE49-F238E27FC236}">
                <a16:creationId xmlns:a16="http://schemas.microsoft.com/office/drawing/2014/main" id="{E944BF58-936B-089A-5C46-E42C791F2486}"/>
              </a:ext>
            </a:extLst>
          </p:cNvPr>
          <p:cNvSpPr txBox="1"/>
          <p:nvPr/>
        </p:nvSpPr>
        <p:spPr>
          <a:xfrm>
            <a:off x="1771087" y="135798"/>
            <a:ext cx="5208920" cy="2554545"/>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r>
              <a:rPr lang="es-ES" dirty="0"/>
              <a:t>Oportunidades Verdes</a:t>
            </a:r>
          </a:p>
        </p:txBody>
      </p:sp>
      <p:sp>
        <p:nvSpPr>
          <p:cNvPr id="10" name="TextBox 9">
            <a:extLst>
              <a:ext uri="{FF2B5EF4-FFF2-40B4-BE49-F238E27FC236}">
                <a16:creationId xmlns:a16="http://schemas.microsoft.com/office/drawing/2014/main" id="{5F51AD2C-B0DA-DCAF-A4D6-61477AC73A25}"/>
              </a:ext>
            </a:extLst>
          </p:cNvPr>
          <p:cNvSpPr txBox="1"/>
          <p:nvPr/>
        </p:nvSpPr>
        <p:spPr>
          <a:xfrm>
            <a:off x="-214896" y="4942564"/>
            <a:ext cx="4104167" cy="400110"/>
          </a:xfrm>
          <a:prstGeom prst="rect">
            <a:avLst/>
          </a:prstGeom>
          <a:noFill/>
        </p:spPr>
        <p:txBody>
          <a:bodyPr wrap="square">
            <a:spAutoFit/>
          </a:bodyPr>
          <a:lstStyle>
            <a:defPPr>
              <a:defRPr lang="es-ES"/>
            </a:defPPr>
            <a:lvl1pPr algn="r">
              <a:defRPr sz="4000" b="1">
                <a:solidFill>
                  <a:schemeClr val="accent6">
                    <a:lumMod val="75000"/>
                  </a:schemeClr>
                </a:solidFill>
                <a:effectLst/>
                <a:latin typeface="Bahnschrift Condensed" panose="020B0502040204020203" pitchFamily="34" charset="0"/>
                <a:ea typeface="menlo"/>
                <a:cs typeface="menlo"/>
              </a:defRPr>
            </a:lvl1pPr>
          </a:lstStyle>
          <a:p>
            <a:r>
              <a:rPr lang="en-US" sz="2000" dirty="0"/>
              <a:t>E</a:t>
            </a:r>
            <a:r>
              <a:rPr lang="es-ES" sz="2000" dirty="0" err="1"/>
              <a:t>ficiencia</a:t>
            </a:r>
            <a:r>
              <a:rPr lang="es-ES" sz="2000" dirty="0"/>
              <a:t> Operativa</a:t>
            </a:r>
          </a:p>
        </p:txBody>
      </p:sp>
      <p:sp>
        <p:nvSpPr>
          <p:cNvPr id="14" name="TextBox 13">
            <a:extLst>
              <a:ext uri="{FF2B5EF4-FFF2-40B4-BE49-F238E27FC236}">
                <a16:creationId xmlns:a16="http://schemas.microsoft.com/office/drawing/2014/main" id="{DD886CCD-7BD4-7470-FD3F-95D0290C751F}"/>
              </a:ext>
            </a:extLst>
          </p:cNvPr>
          <p:cNvSpPr txBox="1"/>
          <p:nvPr/>
        </p:nvSpPr>
        <p:spPr>
          <a:xfrm>
            <a:off x="4019552" y="4921298"/>
            <a:ext cx="7548671" cy="1531445"/>
          </a:xfrm>
          <a:prstGeom prst="rect">
            <a:avLst/>
          </a:prstGeom>
          <a:noFill/>
        </p:spPr>
        <p:txBody>
          <a:bodyPr wrap="square">
            <a:spAutoFit/>
          </a:bodyPr>
          <a:lstStyle/>
          <a:p>
            <a:pPr>
              <a:lnSpc>
                <a:spcPct val="150000"/>
              </a:lnSpc>
              <a:spcAft>
                <a:spcPts val="1050"/>
              </a:spcAft>
            </a:pPr>
            <a:r>
              <a:rPr lang="es-ES" sz="1600" dirty="0">
                <a:solidFill>
                  <a:schemeClr val="accent2">
                    <a:lumMod val="60000"/>
                    <a:lumOff val="40000"/>
                  </a:schemeClr>
                </a:solidFill>
                <a:latin typeface="source serif 4"/>
              </a:rPr>
              <a:t>Es verdad que la sucursal de Madrid es la que más ingresos tiene, pero su coste operativo es desproporcionado. Existe una clara oportunidad de optimización en su proceso mercantil. Se puede tener como referencia la labor administrativa del gerente de la sucursal Levante Valencia y su consejo al respecto.</a:t>
            </a:r>
          </a:p>
        </p:txBody>
      </p:sp>
      <p:graphicFrame>
        <p:nvGraphicFramePr>
          <p:cNvPr id="4" name="Table 3">
            <a:extLst>
              <a:ext uri="{FF2B5EF4-FFF2-40B4-BE49-F238E27FC236}">
                <a16:creationId xmlns:a16="http://schemas.microsoft.com/office/drawing/2014/main" id="{4B52E7B4-4579-D457-F8E9-C8C0A94E6A69}"/>
              </a:ext>
            </a:extLst>
          </p:cNvPr>
          <p:cNvGraphicFramePr>
            <a:graphicFrameLocks noGrp="1"/>
          </p:cNvGraphicFramePr>
          <p:nvPr>
            <p:extLst>
              <p:ext uri="{D42A27DB-BD31-4B8C-83A1-F6EECF244321}">
                <p14:modId xmlns:p14="http://schemas.microsoft.com/office/powerpoint/2010/main" val="936320980"/>
              </p:ext>
            </p:extLst>
          </p:nvPr>
        </p:nvGraphicFramePr>
        <p:xfrm>
          <a:off x="4019552" y="3323750"/>
          <a:ext cx="7931443" cy="1195088"/>
        </p:xfrm>
        <a:graphic>
          <a:graphicData uri="http://schemas.openxmlformats.org/drawingml/2006/table">
            <a:tbl>
              <a:tblPr>
                <a:tableStyleId>{5C22544A-7EE6-4342-B048-85BDC9FD1C3A}</a:tableStyleId>
              </a:tblPr>
              <a:tblGrid>
                <a:gridCol w="1870885">
                  <a:extLst>
                    <a:ext uri="{9D8B030D-6E8A-4147-A177-3AD203B41FA5}">
                      <a16:colId xmlns:a16="http://schemas.microsoft.com/office/drawing/2014/main" val="3002843016"/>
                    </a:ext>
                  </a:extLst>
                </a:gridCol>
                <a:gridCol w="1350335">
                  <a:extLst>
                    <a:ext uri="{9D8B030D-6E8A-4147-A177-3AD203B41FA5}">
                      <a16:colId xmlns:a16="http://schemas.microsoft.com/office/drawing/2014/main" val="1717666756"/>
                    </a:ext>
                  </a:extLst>
                </a:gridCol>
                <a:gridCol w="1201479">
                  <a:extLst>
                    <a:ext uri="{9D8B030D-6E8A-4147-A177-3AD203B41FA5}">
                      <a16:colId xmlns:a16="http://schemas.microsoft.com/office/drawing/2014/main" val="3534950669"/>
                    </a:ext>
                  </a:extLst>
                </a:gridCol>
                <a:gridCol w="1562986">
                  <a:extLst>
                    <a:ext uri="{9D8B030D-6E8A-4147-A177-3AD203B41FA5}">
                      <a16:colId xmlns:a16="http://schemas.microsoft.com/office/drawing/2014/main" val="1334203599"/>
                    </a:ext>
                  </a:extLst>
                </a:gridCol>
                <a:gridCol w="1945758">
                  <a:extLst>
                    <a:ext uri="{9D8B030D-6E8A-4147-A177-3AD203B41FA5}">
                      <a16:colId xmlns:a16="http://schemas.microsoft.com/office/drawing/2014/main" val="2203517512"/>
                    </a:ext>
                  </a:extLst>
                </a:gridCol>
              </a:tblGrid>
              <a:tr h="322004">
                <a:tc>
                  <a:txBody>
                    <a:bodyPr/>
                    <a:lstStyle/>
                    <a:p>
                      <a:pPr algn="l" fontAlgn="b"/>
                      <a:r>
                        <a:rPr lang="es-ES" sz="1800" u="none" strike="noStrike" dirty="0" err="1">
                          <a:solidFill>
                            <a:schemeClr val="bg1"/>
                          </a:solidFill>
                          <a:effectLst/>
                        </a:rPr>
                        <a:t>NombreSucursal</a:t>
                      </a:r>
                      <a:endParaRPr lang="es-ES" sz="1800" b="1" i="0" u="none" strike="noStrike" dirty="0">
                        <a:solidFill>
                          <a:schemeClr val="bg1"/>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800" u="none" strike="noStrike" dirty="0">
                          <a:solidFill>
                            <a:schemeClr val="bg1"/>
                          </a:solidFill>
                          <a:effectLst/>
                        </a:rPr>
                        <a:t>Operaciones</a:t>
                      </a:r>
                      <a:endParaRPr lang="es-ES" sz="1800" b="1" i="0" u="none" strike="noStrike" dirty="0">
                        <a:solidFill>
                          <a:schemeClr val="bg1"/>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800" u="none" strike="noStrike" dirty="0" err="1">
                          <a:solidFill>
                            <a:schemeClr val="bg1"/>
                          </a:solidFill>
                          <a:effectLst/>
                        </a:rPr>
                        <a:t>CosteTotal</a:t>
                      </a:r>
                      <a:endParaRPr lang="es-ES" sz="1800" b="1" i="0" u="none" strike="noStrike" dirty="0">
                        <a:solidFill>
                          <a:schemeClr val="bg1"/>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800" u="none" strike="noStrike" dirty="0" err="1">
                          <a:solidFill>
                            <a:schemeClr val="bg1"/>
                          </a:solidFill>
                          <a:effectLst/>
                        </a:rPr>
                        <a:t>CostePromedio</a:t>
                      </a:r>
                      <a:endParaRPr lang="es-ES" sz="1800" b="1" i="0" u="none" strike="noStrike" dirty="0">
                        <a:solidFill>
                          <a:schemeClr val="bg1"/>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800" u="none" strike="noStrike" dirty="0" err="1">
                          <a:solidFill>
                            <a:schemeClr val="bg1"/>
                          </a:solidFill>
                          <a:effectLst/>
                        </a:rPr>
                        <a:t>PrepMinPromedio</a:t>
                      </a:r>
                      <a:endParaRPr lang="es-ES" sz="1800" b="1" i="0" u="none" strike="noStrike" dirty="0">
                        <a:solidFill>
                          <a:schemeClr val="bg1"/>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262196259"/>
                  </a:ext>
                </a:extLst>
              </a:tr>
              <a:tr h="218271">
                <a:tc>
                  <a:txBody>
                    <a:bodyPr/>
                    <a:lstStyle/>
                    <a:p>
                      <a:pPr algn="l" fontAlgn="b"/>
                      <a:r>
                        <a:rPr lang="es-ES" sz="1200" u="none" strike="noStrike" dirty="0">
                          <a:solidFill>
                            <a:srgbClr val="FEAF18"/>
                          </a:solidFill>
                          <a:effectLst/>
                        </a:rPr>
                        <a:t>Almacén Central Madrid</a:t>
                      </a:r>
                      <a:endParaRPr lang="es-ES" sz="1200" b="0" i="0" u="none" strike="noStrike" dirty="0">
                        <a:solidFill>
                          <a:srgbClr val="FEAF18"/>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EAF18"/>
                          </a:solidFill>
                          <a:effectLst/>
                        </a:rPr>
                        <a:t>16</a:t>
                      </a:r>
                      <a:endParaRPr lang="es-ES" sz="1200" b="0" i="0" u="none" strike="noStrike" dirty="0">
                        <a:solidFill>
                          <a:srgbClr val="FEAF18"/>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F0000"/>
                          </a:solidFill>
                          <a:effectLst/>
                        </a:rPr>
                        <a:t>1978</a:t>
                      </a:r>
                      <a:endParaRPr lang="es-ES" sz="1200" b="0" i="0" u="none" strike="noStrike" dirty="0">
                        <a:solidFill>
                          <a:srgbClr val="FF0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EAF18"/>
                          </a:solidFill>
                          <a:effectLst/>
                        </a:rPr>
                        <a:t>124</a:t>
                      </a:r>
                      <a:endParaRPr lang="es-ES" sz="1200" b="0" i="0" u="none" strike="noStrike" dirty="0">
                        <a:solidFill>
                          <a:srgbClr val="FEAF18"/>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EAF18"/>
                          </a:solidFill>
                          <a:effectLst/>
                        </a:rPr>
                        <a:t>64.7</a:t>
                      </a:r>
                      <a:endParaRPr lang="es-ES" sz="1200" b="0" i="0" u="none" strike="noStrike" dirty="0">
                        <a:solidFill>
                          <a:srgbClr val="FEAF18"/>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123914507"/>
                  </a:ext>
                </a:extLst>
              </a:tr>
              <a:tr h="218271">
                <a:tc>
                  <a:txBody>
                    <a:bodyPr/>
                    <a:lstStyle/>
                    <a:p>
                      <a:pPr algn="l" fontAlgn="b"/>
                      <a:r>
                        <a:rPr lang="es-ES" sz="1200" u="none" strike="noStrike" dirty="0">
                          <a:solidFill>
                            <a:schemeClr val="accent2">
                              <a:lumMod val="60000"/>
                              <a:lumOff val="40000"/>
                            </a:schemeClr>
                          </a:solidFill>
                          <a:effectLst/>
                        </a:rPr>
                        <a:t>Tienda Norte Barcelona</a:t>
                      </a:r>
                      <a:endParaRPr lang="es-ES" sz="1200" b="0" i="0" u="none" strike="noStrike" dirty="0">
                        <a:solidFill>
                          <a:schemeClr val="accent2">
                            <a:lumMod val="60000"/>
                            <a:lumOff val="40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a:solidFill>
                            <a:schemeClr val="accent2">
                              <a:lumMod val="60000"/>
                              <a:lumOff val="40000"/>
                            </a:schemeClr>
                          </a:solidFill>
                          <a:effectLst/>
                        </a:rPr>
                        <a:t>13</a:t>
                      </a:r>
                      <a:endParaRPr lang="es-ES" sz="1200" b="0" i="0" u="none" strike="noStrike">
                        <a:solidFill>
                          <a:schemeClr val="accent2">
                            <a:lumMod val="60000"/>
                            <a:lumOff val="40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a:solidFill>
                            <a:schemeClr val="accent2">
                              <a:lumMod val="60000"/>
                              <a:lumOff val="40000"/>
                            </a:schemeClr>
                          </a:solidFill>
                          <a:effectLst/>
                        </a:rPr>
                        <a:t>495</a:t>
                      </a:r>
                      <a:endParaRPr lang="es-ES" sz="1200" b="0" i="0" u="none" strike="noStrike">
                        <a:solidFill>
                          <a:schemeClr val="accent2">
                            <a:lumMod val="60000"/>
                            <a:lumOff val="40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a:solidFill>
                            <a:schemeClr val="accent2">
                              <a:lumMod val="60000"/>
                              <a:lumOff val="40000"/>
                            </a:schemeClr>
                          </a:solidFill>
                          <a:effectLst/>
                        </a:rPr>
                        <a:t>38</a:t>
                      </a:r>
                      <a:endParaRPr lang="es-ES" sz="1200" b="0" i="0" u="none" strike="noStrike">
                        <a:solidFill>
                          <a:schemeClr val="accent2">
                            <a:lumMod val="60000"/>
                            <a:lumOff val="40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chemeClr val="accent2">
                              <a:lumMod val="60000"/>
                              <a:lumOff val="40000"/>
                            </a:schemeClr>
                          </a:solidFill>
                          <a:effectLst/>
                        </a:rPr>
                        <a:t>31.9</a:t>
                      </a:r>
                      <a:endParaRPr lang="es-ES" sz="1200" b="0" i="0" u="none" strike="noStrike" dirty="0">
                        <a:solidFill>
                          <a:schemeClr val="accent2">
                            <a:lumMod val="60000"/>
                            <a:lumOff val="40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278359070"/>
                  </a:ext>
                </a:extLst>
              </a:tr>
              <a:tr h="218271">
                <a:tc>
                  <a:txBody>
                    <a:bodyPr/>
                    <a:lstStyle/>
                    <a:p>
                      <a:pPr algn="l" fontAlgn="b"/>
                      <a:r>
                        <a:rPr lang="es-ES" sz="1200" u="none" strike="noStrike" dirty="0">
                          <a:solidFill>
                            <a:schemeClr val="accent2">
                              <a:lumMod val="60000"/>
                              <a:lumOff val="40000"/>
                            </a:schemeClr>
                          </a:solidFill>
                          <a:effectLst/>
                        </a:rPr>
                        <a:t>Planta Sur Sevilla</a:t>
                      </a:r>
                      <a:endParaRPr lang="es-ES" sz="1200" b="0" i="0" u="none" strike="noStrike" dirty="0">
                        <a:solidFill>
                          <a:schemeClr val="accent2">
                            <a:lumMod val="60000"/>
                            <a:lumOff val="40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a:solidFill>
                            <a:schemeClr val="accent2">
                              <a:lumMod val="60000"/>
                              <a:lumOff val="40000"/>
                            </a:schemeClr>
                          </a:solidFill>
                          <a:effectLst/>
                        </a:rPr>
                        <a:t>6</a:t>
                      </a:r>
                      <a:endParaRPr lang="es-ES" sz="1200" b="0" i="0" u="none" strike="noStrike">
                        <a:solidFill>
                          <a:schemeClr val="accent2">
                            <a:lumMod val="60000"/>
                            <a:lumOff val="40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a:solidFill>
                            <a:schemeClr val="accent2">
                              <a:lumMod val="60000"/>
                              <a:lumOff val="40000"/>
                            </a:schemeClr>
                          </a:solidFill>
                          <a:effectLst/>
                        </a:rPr>
                        <a:t>164</a:t>
                      </a:r>
                      <a:endParaRPr lang="es-ES" sz="1200" b="0" i="0" u="none" strike="noStrike">
                        <a:solidFill>
                          <a:schemeClr val="accent2">
                            <a:lumMod val="60000"/>
                            <a:lumOff val="40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chemeClr val="accent2">
                              <a:lumMod val="60000"/>
                              <a:lumOff val="40000"/>
                            </a:schemeClr>
                          </a:solidFill>
                          <a:effectLst/>
                        </a:rPr>
                        <a:t>27</a:t>
                      </a:r>
                      <a:endParaRPr lang="es-ES" sz="1200" b="0" i="0" u="none" strike="noStrike" dirty="0">
                        <a:solidFill>
                          <a:schemeClr val="accent2">
                            <a:lumMod val="60000"/>
                            <a:lumOff val="40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chemeClr val="accent2">
                              <a:lumMod val="60000"/>
                              <a:lumOff val="40000"/>
                            </a:schemeClr>
                          </a:solidFill>
                          <a:effectLst/>
                        </a:rPr>
                        <a:t>27.2</a:t>
                      </a:r>
                      <a:endParaRPr lang="es-ES" sz="1200" b="0" i="0" u="none" strike="noStrike" dirty="0">
                        <a:solidFill>
                          <a:schemeClr val="accent2">
                            <a:lumMod val="60000"/>
                            <a:lumOff val="40000"/>
                          </a:schemeClr>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3457647856"/>
                  </a:ext>
                </a:extLst>
              </a:tr>
              <a:tr h="218271">
                <a:tc>
                  <a:txBody>
                    <a:bodyPr/>
                    <a:lstStyle/>
                    <a:p>
                      <a:pPr algn="l" fontAlgn="b"/>
                      <a:r>
                        <a:rPr lang="es-ES" sz="1200" u="none" strike="noStrike" dirty="0">
                          <a:solidFill>
                            <a:srgbClr val="FEAF18"/>
                          </a:solidFill>
                          <a:effectLst/>
                        </a:rPr>
                        <a:t>DC Levante Valencia</a:t>
                      </a:r>
                      <a:endParaRPr lang="es-ES" sz="1200" b="0" i="0" u="none" strike="noStrike" dirty="0">
                        <a:solidFill>
                          <a:srgbClr val="FEAF18"/>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EAF18"/>
                          </a:solidFill>
                          <a:effectLst/>
                        </a:rPr>
                        <a:t>5</a:t>
                      </a:r>
                      <a:endParaRPr lang="es-ES" sz="1200" b="0" i="0" u="none" strike="noStrike" dirty="0">
                        <a:solidFill>
                          <a:srgbClr val="FEAF18"/>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F0000"/>
                          </a:solidFill>
                          <a:effectLst/>
                        </a:rPr>
                        <a:t>79</a:t>
                      </a:r>
                      <a:endParaRPr lang="es-ES" sz="1200" b="0" i="0" u="none" strike="noStrike" dirty="0">
                        <a:solidFill>
                          <a:srgbClr val="FF0000"/>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EAF18"/>
                          </a:solidFill>
                          <a:effectLst/>
                        </a:rPr>
                        <a:t>16</a:t>
                      </a:r>
                      <a:endParaRPr lang="es-ES" sz="1200" b="0" i="0" u="none" strike="noStrike" dirty="0">
                        <a:solidFill>
                          <a:srgbClr val="FEAF18"/>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tc>
                  <a:txBody>
                    <a:bodyPr/>
                    <a:lstStyle/>
                    <a:p>
                      <a:pPr algn="r" fontAlgn="b"/>
                      <a:r>
                        <a:rPr lang="es-ES" sz="1200" u="none" strike="noStrike" dirty="0">
                          <a:solidFill>
                            <a:srgbClr val="FEAF18"/>
                          </a:solidFill>
                          <a:effectLst/>
                        </a:rPr>
                        <a:t>24.0</a:t>
                      </a:r>
                      <a:endParaRPr lang="es-ES" sz="1200" b="0" i="0" u="none" strike="noStrike" dirty="0">
                        <a:solidFill>
                          <a:srgbClr val="FEAF18"/>
                        </a:solidFill>
                        <a:effectLst/>
                        <a:latin typeface="Calibri" panose="020F050202020403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alpha val="40000"/>
                      </a:schemeClr>
                    </a:solidFill>
                  </a:tcPr>
                </a:tc>
                <a:extLst>
                  <a:ext uri="{0D108BD9-81ED-4DB2-BD59-A6C34878D82A}">
                    <a16:rowId xmlns:a16="http://schemas.microsoft.com/office/drawing/2014/main" val="2533860881"/>
                  </a:ext>
                </a:extLst>
              </a:tr>
            </a:tbl>
          </a:graphicData>
        </a:graphic>
      </p:graphicFrame>
      <p:sp>
        <p:nvSpPr>
          <p:cNvPr id="5" name="TextBox 4">
            <a:extLst>
              <a:ext uri="{FF2B5EF4-FFF2-40B4-BE49-F238E27FC236}">
                <a16:creationId xmlns:a16="http://schemas.microsoft.com/office/drawing/2014/main" id="{1E1BC5D1-D426-E1E6-5A62-9A48037E64E1}"/>
              </a:ext>
            </a:extLst>
          </p:cNvPr>
          <p:cNvSpPr txBox="1"/>
          <p:nvPr/>
        </p:nvSpPr>
        <p:spPr>
          <a:xfrm>
            <a:off x="1979281" y="3336523"/>
            <a:ext cx="1909990" cy="338554"/>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pPr algn="r"/>
            <a:r>
              <a:rPr lang="es-ES" sz="1600" dirty="0">
                <a:solidFill>
                  <a:schemeClr val="bg1"/>
                </a:solidFill>
              </a:rPr>
              <a:t>consulta SQL</a:t>
            </a:r>
          </a:p>
        </p:txBody>
      </p:sp>
    </p:spTree>
    <p:extLst>
      <p:ext uri="{BB962C8B-B14F-4D97-AF65-F5344CB8AC3E}">
        <p14:creationId xmlns:p14="http://schemas.microsoft.com/office/powerpoint/2010/main" val="2846106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B432BF0-5CA9-CEF6-8A11-2472EAC646D9}"/>
              </a:ext>
            </a:extLst>
          </p:cNvPr>
          <p:cNvPicPr>
            <a:picLocks noChangeAspect="1"/>
          </p:cNvPicPr>
          <p:nvPr/>
        </p:nvPicPr>
        <p:blipFill rotWithShape="1">
          <a:blip r:embed="rId2">
            <a:extLst>
              <a:ext uri="{28A0092B-C50C-407E-A947-70E740481C1C}">
                <a14:useLocalDpi xmlns:a14="http://schemas.microsoft.com/office/drawing/2010/main" val="0"/>
              </a:ext>
            </a:extLst>
          </a:blip>
          <a:srcRect r="50000"/>
          <a:stretch/>
        </p:blipFill>
        <p:spPr>
          <a:xfrm>
            <a:off x="0" y="0"/>
            <a:ext cx="6096000" cy="6858000"/>
          </a:xfrm>
          <a:prstGeom prst="rect">
            <a:avLst/>
          </a:prstGeom>
        </p:spPr>
      </p:pic>
      <p:sp>
        <p:nvSpPr>
          <p:cNvPr id="7" name="TextBox 6">
            <a:extLst>
              <a:ext uri="{FF2B5EF4-FFF2-40B4-BE49-F238E27FC236}">
                <a16:creationId xmlns:a16="http://schemas.microsoft.com/office/drawing/2014/main" id="{E8EBCD94-48F2-093B-67B9-255063EB8122}"/>
              </a:ext>
            </a:extLst>
          </p:cNvPr>
          <p:cNvSpPr txBox="1"/>
          <p:nvPr/>
        </p:nvSpPr>
        <p:spPr>
          <a:xfrm>
            <a:off x="5358819" y="796344"/>
            <a:ext cx="5267463" cy="1446550"/>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pPr algn="r"/>
            <a:r>
              <a:rPr lang="es-ES" sz="8800" dirty="0">
                <a:solidFill>
                  <a:srgbClr val="FF7987"/>
                </a:solidFill>
              </a:rPr>
              <a:t>CONCLUCIÓN</a:t>
            </a:r>
          </a:p>
        </p:txBody>
      </p:sp>
      <p:pic>
        <p:nvPicPr>
          <p:cNvPr id="13" name="Picture 12">
            <a:extLst>
              <a:ext uri="{FF2B5EF4-FFF2-40B4-BE49-F238E27FC236}">
                <a16:creationId xmlns:a16="http://schemas.microsoft.com/office/drawing/2014/main" id="{6E1FDA87-8DC6-3C20-4EF8-AC7EE1833294}"/>
              </a:ext>
            </a:extLst>
          </p:cNvPr>
          <p:cNvPicPr>
            <a:picLocks noChangeAspect="1"/>
          </p:cNvPicPr>
          <p:nvPr/>
        </p:nvPicPr>
        <p:blipFill rotWithShape="1">
          <a:blip r:embed="rId2">
            <a:extLst>
              <a:ext uri="{28A0092B-C50C-407E-A947-70E740481C1C}">
                <a14:useLocalDpi xmlns:a14="http://schemas.microsoft.com/office/drawing/2010/main" val="0"/>
              </a:ext>
            </a:extLst>
          </a:blip>
          <a:srcRect l="50000"/>
          <a:stretch/>
        </p:blipFill>
        <p:spPr>
          <a:xfrm>
            <a:off x="6096000" y="-32"/>
            <a:ext cx="6096000" cy="6858000"/>
          </a:xfrm>
          <a:prstGeom prst="rect">
            <a:avLst/>
          </a:prstGeom>
        </p:spPr>
      </p:pic>
      <p:sp>
        <p:nvSpPr>
          <p:cNvPr id="14" name="Rectangle 13">
            <a:extLst>
              <a:ext uri="{FF2B5EF4-FFF2-40B4-BE49-F238E27FC236}">
                <a16:creationId xmlns:a16="http://schemas.microsoft.com/office/drawing/2014/main" id="{FD8066C7-ED1E-A541-D45B-98895ED1EC91}"/>
              </a:ext>
            </a:extLst>
          </p:cNvPr>
          <p:cNvSpPr/>
          <p:nvPr/>
        </p:nvSpPr>
        <p:spPr>
          <a:xfrm>
            <a:off x="0" y="3486212"/>
            <a:ext cx="12192000" cy="3371756"/>
          </a:xfrm>
          <a:prstGeom prst="rect">
            <a:avLst/>
          </a:prstGeom>
          <a:gradFill flip="none" rotWithShape="1">
            <a:gsLst>
              <a:gs pos="100000">
                <a:schemeClr val="tx1">
                  <a:alpha val="61000"/>
                </a:schemeClr>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TextBox 2">
            <a:extLst>
              <a:ext uri="{FF2B5EF4-FFF2-40B4-BE49-F238E27FC236}">
                <a16:creationId xmlns:a16="http://schemas.microsoft.com/office/drawing/2014/main" id="{0EDBE93F-F868-FF20-ACEA-EE4F4379228E}"/>
              </a:ext>
            </a:extLst>
          </p:cNvPr>
          <p:cNvSpPr txBox="1"/>
          <p:nvPr/>
        </p:nvSpPr>
        <p:spPr>
          <a:xfrm>
            <a:off x="2449924" y="3066838"/>
            <a:ext cx="8589328" cy="3371757"/>
          </a:xfrm>
          <a:prstGeom prst="rect">
            <a:avLst/>
          </a:prstGeom>
          <a:noFill/>
        </p:spPr>
        <p:txBody>
          <a:bodyPr wrap="square">
            <a:spAutoFit/>
          </a:bodyPr>
          <a:lstStyle/>
          <a:p>
            <a:pPr>
              <a:lnSpc>
                <a:spcPct val="150000"/>
              </a:lnSpc>
              <a:spcAft>
                <a:spcPts val="1050"/>
              </a:spcAft>
            </a:pPr>
            <a:r>
              <a:rPr lang="es-ES" b="1" dirty="0">
                <a:solidFill>
                  <a:srgbClr val="FF7987"/>
                </a:solidFill>
                <a:latin typeface="Bahnschrift Condensed" panose="020B0502040204020203" pitchFamily="34" charset="0"/>
              </a:rPr>
              <a:t>Objetivo</a:t>
            </a:r>
            <a:br>
              <a:rPr lang="es-ES" b="1" dirty="0">
                <a:solidFill>
                  <a:srgbClr val="FEAF18"/>
                </a:solidFill>
                <a:latin typeface="Bahnschrift Condensed" panose="020B0502040204020203" pitchFamily="34" charset="0"/>
                <a:ea typeface="menlo"/>
                <a:cs typeface="menlo"/>
              </a:rPr>
            </a:br>
            <a:r>
              <a:rPr lang="es-ES" dirty="0">
                <a:solidFill>
                  <a:schemeClr val="bg1"/>
                </a:solidFill>
                <a:latin typeface="source serif 4"/>
                <a:ea typeface="source serif 4"/>
                <a:cs typeface="source serif 4"/>
              </a:rPr>
              <a:t>I</a:t>
            </a:r>
            <a:r>
              <a:rPr lang="es-ES" dirty="0">
                <a:solidFill>
                  <a:schemeClr val="bg1"/>
                </a:solidFill>
                <a:effectLst/>
                <a:latin typeface="source serif 4"/>
                <a:ea typeface="source serif 4"/>
                <a:cs typeface="source serif 4"/>
              </a:rPr>
              <a:t>dentificar patrones de concentración y eficiencia para apoyar decisiones de negocio.</a:t>
            </a:r>
            <a:br>
              <a:rPr lang="es-ES" dirty="0">
                <a:solidFill>
                  <a:schemeClr val="bg1"/>
                </a:solidFill>
                <a:effectLst/>
                <a:latin typeface="source serif 4"/>
                <a:ea typeface="source serif 4"/>
                <a:cs typeface="source serif 4"/>
              </a:rPr>
            </a:br>
            <a:r>
              <a:rPr lang="es-ES" b="1" dirty="0">
                <a:solidFill>
                  <a:srgbClr val="FF7987"/>
                </a:solidFill>
                <a:latin typeface="Bahnschrift Condensed" panose="020B0502040204020203" pitchFamily="34" charset="0"/>
              </a:rPr>
              <a:t>Hallazgo principal</a:t>
            </a:r>
            <a:br>
              <a:rPr lang="es-ES" b="1" dirty="0">
                <a:solidFill>
                  <a:srgbClr val="FEAF18"/>
                </a:solidFill>
                <a:latin typeface="Bahnschrift Condensed" panose="020B0502040204020203" pitchFamily="34" charset="0"/>
                <a:ea typeface="menlo"/>
                <a:cs typeface="menlo"/>
              </a:rPr>
            </a:br>
            <a:r>
              <a:rPr lang="es-ES" dirty="0">
                <a:solidFill>
                  <a:schemeClr val="bg1"/>
                </a:solidFill>
                <a:latin typeface="source serif 4"/>
                <a:ea typeface="source serif 4"/>
                <a:cs typeface="source serif 4"/>
              </a:rPr>
              <a:t>E</a:t>
            </a:r>
            <a:r>
              <a:rPr lang="es-ES" dirty="0">
                <a:solidFill>
                  <a:schemeClr val="bg1"/>
                </a:solidFill>
                <a:effectLst/>
                <a:latin typeface="source serif 4"/>
                <a:ea typeface="source serif 4"/>
                <a:cs typeface="source serif 4"/>
              </a:rPr>
              <a:t>l canal Mayorista concentra la mayor parte del volumen y requiere atención prioritaria.</a:t>
            </a:r>
            <a:br>
              <a:rPr lang="es-ES" dirty="0">
                <a:solidFill>
                  <a:schemeClr val="bg1"/>
                </a:solidFill>
                <a:effectLst/>
                <a:latin typeface="source serif 4"/>
                <a:ea typeface="source serif 4"/>
                <a:cs typeface="source serif 4"/>
              </a:rPr>
            </a:br>
            <a:r>
              <a:rPr lang="es-ES" b="1" dirty="0">
                <a:solidFill>
                  <a:srgbClr val="FF7987"/>
                </a:solidFill>
                <a:latin typeface="Bahnschrift Condensed" panose="020B0502040204020203" pitchFamily="34" charset="0"/>
              </a:rPr>
              <a:t>Impacto operativo</a:t>
            </a:r>
            <a:br>
              <a:rPr lang="es-ES" b="1" dirty="0">
                <a:solidFill>
                  <a:srgbClr val="FEAF18"/>
                </a:solidFill>
                <a:latin typeface="Bahnschrift Condensed" panose="020B0502040204020203" pitchFamily="34" charset="0"/>
                <a:ea typeface="menlo"/>
                <a:cs typeface="menlo"/>
              </a:rPr>
            </a:br>
            <a:r>
              <a:rPr lang="es-ES" dirty="0">
                <a:solidFill>
                  <a:schemeClr val="bg1"/>
                </a:solidFill>
                <a:effectLst/>
                <a:latin typeface="source serif 4"/>
                <a:ea typeface="source serif 4"/>
                <a:cs typeface="source serif 4"/>
              </a:rPr>
              <a:t>Existen diferencias en cumplimiento, lead time y coste que afectan el servicio.</a:t>
            </a:r>
            <a:br>
              <a:rPr lang="es-ES" dirty="0">
                <a:solidFill>
                  <a:schemeClr val="bg1"/>
                </a:solidFill>
                <a:effectLst/>
                <a:latin typeface="source serif 4"/>
                <a:ea typeface="source serif 4"/>
                <a:cs typeface="source serif 4"/>
              </a:rPr>
            </a:br>
            <a:r>
              <a:rPr lang="es-ES" b="1" dirty="0">
                <a:solidFill>
                  <a:srgbClr val="FF7987"/>
                </a:solidFill>
                <a:latin typeface="Bahnschrift Condensed" panose="020B0502040204020203" pitchFamily="34" charset="0"/>
              </a:rPr>
              <a:t>Acción recomendada</a:t>
            </a:r>
            <a:br>
              <a:rPr lang="es-ES" b="1" dirty="0">
                <a:solidFill>
                  <a:srgbClr val="FEAF18"/>
                </a:solidFill>
                <a:latin typeface="Bahnschrift Condensed" panose="020B0502040204020203" pitchFamily="34" charset="0"/>
                <a:ea typeface="menlo"/>
                <a:cs typeface="menlo"/>
              </a:rPr>
            </a:br>
            <a:r>
              <a:rPr lang="es-ES" dirty="0">
                <a:solidFill>
                  <a:schemeClr val="bg1"/>
                </a:solidFill>
                <a:latin typeface="source serif 4"/>
                <a:ea typeface="source serif 4"/>
                <a:cs typeface="source serif 4"/>
              </a:rPr>
              <a:t>R</a:t>
            </a:r>
            <a:r>
              <a:rPr lang="es-ES" dirty="0">
                <a:solidFill>
                  <a:schemeClr val="bg1"/>
                </a:solidFill>
                <a:effectLst/>
                <a:latin typeface="source serif 4"/>
                <a:ea typeface="source serif 4"/>
                <a:cs typeface="source serif 4"/>
              </a:rPr>
              <a:t>eforzar Mayorista, revisar descuentos y optimizar la operación.</a:t>
            </a:r>
            <a:endParaRPr lang="es-ES" dirty="0">
              <a:solidFill>
                <a:schemeClr val="bg1"/>
              </a:solidFill>
              <a:effectLst/>
              <a:latin typeface="Georgia" panose="02040502050405020303" pitchFamily="18"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9602B60C-4F6B-B912-FD78-7D533DCA0B1F}"/>
              </a:ext>
            </a:extLst>
          </p:cNvPr>
          <p:cNvSpPr txBox="1"/>
          <p:nvPr/>
        </p:nvSpPr>
        <p:spPr>
          <a:xfrm>
            <a:off x="5968407" y="1620288"/>
            <a:ext cx="4013621" cy="1323439"/>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8000" b="1" dirty="0">
                <a:latin typeface="Bahnschrift Condensed" panose="020B0502040204020203" pitchFamily="34" charset="0"/>
              </a:rPr>
              <a:t>IBERIA</a:t>
            </a:r>
          </a:p>
        </p:txBody>
      </p:sp>
    </p:spTree>
    <p:extLst>
      <p:ext uri="{BB962C8B-B14F-4D97-AF65-F5344CB8AC3E}">
        <p14:creationId xmlns:p14="http://schemas.microsoft.com/office/powerpoint/2010/main" val="938038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0.02982 0.00023 L -0.36003 0.00023 " pathEditMode="relative" rAng="0" ptsTypes="AA">
                                      <p:cBhvr>
                                        <p:cTn id="6" dur="1000" fill="hold"/>
                                        <p:tgtEl>
                                          <p:spTgt spid="7"/>
                                        </p:tgtEl>
                                        <p:attrNameLst>
                                          <p:attrName>ppt_x</p:attrName>
                                          <p:attrName>ppt_y</p:attrName>
                                        </p:attrNameLst>
                                      </p:cBhvr>
                                      <p:rCtr x="-1949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51F8FDD-F854-971F-0148-439A2CCD07C8}"/>
              </a:ext>
            </a:extLst>
          </p:cNvPr>
          <p:cNvPicPr>
            <a:picLocks noChangeAspect="1"/>
          </p:cNvPicPr>
          <p:nvPr/>
        </p:nvPicPr>
        <p:blipFill rotWithShape="1">
          <a:blip r:embed="rId2">
            <a:extLst>
              <a:ext uri="{28A0092B-C50C-407E-A947-70E740481C1C}">
                <a14:useLocalDpi xmlns:a14="http://schemas.microsoft.com/office/drawing/2010/main" val="0"/>
              </a:ext>
            </a:extLst>
          </a:blip>
          <a:srcRect r="50000"/>
          <a:stretch/>
        </p:blipFill>
        <p:spPr>
          <a:xfrm>
            <a:off x="0" y="0"/>
            <a:ext cx="6096000" cy="6858000"/>
          </a:xfrm>
          <a:prstGeom prst="rect">
            <a:avLst/>
          </a:prstGeom>
        </p:spPr>
      </p:pic>
      <p:pic>
        <p:nvPicPr>
          <p:cNvPr id="10" name="Picture 9">
            <a:extLst>
              <a:ext uri="{FF2B5EF4-FFF2-40B4-BE49-F238E27FC236}">
                <a16:creationId xmlns:a16="http://schemas.microsoft.com/office/drawing/2014/main" id="{C62DC63C-C438-B777-9568-D0DCB5654666}"/>
              </a:ext>
            </a:extLst>
          </p:cNvPr>
          <p:cNvPicPr>
            <a:picLocks noChangeAspect="1"/>
          </p:cNvPicPr>
          <p:nvPr/>
        </p:nvPicPr>
        <p:blipFill rotWithShape="1">
          <a:blip r:embed="rId2">
            <a:extLst>
              <a:ext uri="{28A0092B-C50C-407E-A947-70E740481C1C}">
                <a14:useLocalDpi xmlns:a14="http://schemas.microsoft.com/office/drawing/2010/main" val="0"/>
              </a:ext>
            </a:extLst>
          </a:blip>
          <a:srcRect l="50000"/>
          <a:stretch/>
        </p:blipFill>
        <p:spPr>
          <a:xfrm>
            <a:off x="6096000" y="-32"/>
            <a:ext cx="6096000" cy="6858000"/>
          </a:xfrm>
          <a:prstGeom prst="rect">
            <a:avLst/>
          </a:prstGeom>
        </p:spPr>
      </p:pic>
      <p:sp>
        <p:nvSpPr>
          <p:cNvPr id="12" name="Rectangle 11">
            <a:extLst>
              <a:ext uri="{FF2B5EF4-FFF2-40B4-BE49-F238E27FC236}">
                <a16:creationId xmlns:a16="http://schemas.microsoft.com/office/drawing/2014/main" id="{1D5B69C4-6A60-8285-5E12-2F52498849D8}"/>
              </a:ext>
            </a:extLst>
          </p:cNvPr>
          <p:cNvSpPr/>
          <p:nvPr/>
        </p:nvSpPr>
        <p:spPr>
          <a:xfrm>
            <a:off x="0" y="3486212"/>
            <a:ext cx="12192000" cy="3371756"/>
          </a:xfrm>
          <a:prstGeom prst="rect">
            <a:avLst/>
          </a:prstGeom>
          <a:gradFill flip="none" rotWithShape="1">
            <a:gsLst>
              <a:gs pos="100000">
                <a:schemeClr val="tx1">
                  <a:alpha val="61000"/>
                </a:schemeClr>
              </a:gs>
              <a:gs pos="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TextBox 6">
            <a:extLst>
              <a:ext uri="{FF2B5EF4-FFF2-40B4-BE49-F238E27FC236}">
                <a16:creationId xmlns:a16="http://schemas.microsoft.com/office/drawing/2014/main" id="{6235130F-1B9A-F9A6-C055-C301AC8A03A4}"/>
              </a:ext>
            </a:extLst>
          </p:cNvPr>
          <p:cNvSpPr txBox="1"/>
          <p:nvPr/>
        </p:nvSpPr>
        <p:spPr>
          <a:xfrm>
            <a:off x="2438798" y="4061107"/>
            <a:ext cx="7400261" cy="1754326"/>
          </a:xfrm>
          <a:prstGeom prst="rect">
            <a:avLst/>
          </a:prstGeom>
          <a:noFill/>
        </p:spPr>
        <p:txBody>
          <a:bodyPr wrap="square">
            <a:spAutoFit/>
          </a:bodyPr>
          <a:lstStyle/>
          <a:p>
            <a:r>
              <a:rPr lang="es-ES" sz="1800" dirty="0">
                <a:solidFill>
                  <a:schemeClr val="bg1"/>
                </a:solidFill>
                <a:effectLst/>
                <a:latin typeface="source serif 4"/>
                <a:ea typeface="source serif 4"/>
                <a:cs typeface="source serif 4"/>
              </a:rPr>
              <a:t>El proyecto analizó ventas y operaciones de Iberia Mayorista para identificar concentración comercial, desempeño logístico y oportunidades de mejora. Los resultados muestran que el canal Mayorista concentra el mayor peso del negocio, mientras que la operación presenta variabilidad en tiempos, cumplimiento y coste. Esto convierte al análisis en una herramienta útil para priorizar acciones comerciales y operativas con mayor impacto.</a:t>
            </a:r>
            <a:endParaRPr lang="es-ES" dirty="0">
              <a:solidFill>
                <a:schemeClr val="bg1"/>
              </a:solidFill>
            </a:endParaRPr>
          </a:p>
        </p:txBody>
      </p:sp>
      <p:sp>
        <p:nvSpPr>
          <p:cNvPr id="4" name="TextBox 3">
            <a:extLst>
              <a:ext uri="{FF2B5EF4-FFF2-40B4-BE49-F238E27FC236}">
                <a16:creationId xmlns:a16="http://schemas.microsoft.com/office/drawing/2014/main" id="{7A71661A-E5D1-FEF9-C104-365A2727ADFC}"/>
              </a:ext>
            </a:extLst>
          </p:cNvPr>
          <p:cNvSpPr txBox="1"/>
          <p:nvPr/>
        </p:nvSpPr>
        <p:spPr>
          <a:xfrm>
            <a:off x="956925" y="796344"/>
            <a:ext cx="5267463" cy="1446550"/>
          </a:xfrm>
          <a:prstGeom prst="rect">
            <a:avLst/>
          </a:prstGeom>
          <a:noFill/>
        </p:spPr>
        <p:txBody>
          <a:bodyPr wrap="square">
            <a:spAutoFit/>
          </a:bodyPr>
          <a:lstStyle>
            <a:defPPr>
              <a:defRPr lang="es-ES"/>
            </a:defPPr>
            <a:lvl1pPr>
              <a:defRPr sz="8000" b="1">
                <a:solidFill>
                  <a:srgbClr val="FEAF18"/>
                </a:solidFill>
                <a:effectLst/>
                <a:latin typeface="Bahnschrift Condensed" panose="020B0502040204020203" pitchFamily="34" charset="0"/>
                <a:ea typeface="menlo"/>
                <a:cs typeface="menlo"/>
              </a:defRPr>
            </a:lvl1pPr>
          </a:lstStyle>
          <a:p>
            <a:pPr algn="r"/>
            <a:r>
              <a:rPr lang="es-ES" sz="8800" dirty="0">
                <a:solidFill>
                  <a:srgbClr val="FF7987"/>
                </a:solidFill>
              </a:rPr>
              <a:t>CONCLUCIÓN</a:t>
            </a:r>
          </a:p>
        </p:txBody>
      </p:sp>
      <p:sp>
        <p:nvSpPr>
          <p:cNvPr id="6" name="TextBox 5">
            <a:extLst>
              <a:ext uri="{FF2B5EF4-FFF2-40B4-BE49-F238E27FC236}">
                <a16:creationId xmlns:a16="http://schemas.microsoft.com/office/drawing/2014/main" id="{95A10AB3-C574-A935-7BEE-E9E9D7C8E1E3}"/>
              </a:ext>
            </a:extLst>
          </p:cNvPr>
          <p:cNvSpPr txBox="1"/>
          <p:nvPr/>
        </p:nvSpPr>
        <p:spPr>
          <a:xfrm>
            <a:off x="5968407" y="1620288"/>
            <a:ext cx="4013621" cy="1323439"/>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r>
              <a:rPr lang="en-US" sz="8000" b="1" dirty="0">
                <a:latin typeface="Bahnschrift Condensed" panose="020B0502040204020203" pitchFamily="34" charset="0"/>
              </a:rPr>
              <a:t>IBERIA</a:t>
            </a:r>
          </a:p>
        </p:txBody>
      </p:sp>
      <p:sp>
        <p:nvSpPr>
          <p:cNvPr id="11" name="TextBox 10">
            <a:extLst>
              <a:ext uri="{FF2B5EF4-FFF2-40B4-BE49-F238E27FC236}">
                <a16:creationId xmlns:a16="http://schemas.microsoft.com/office/drawing/2014/main" id="{0F86A0C3-456B-31DF-E3CF-0FBB739D47C4}"/>
              </a:ext>
            </a:extLst>
          </p:cNvPr>
          <p:cNvSpPr txBox="1"/>
          <p:nvPr/>
        </p:nvSpPr>
        <p:spPr>
          <a:xfrm>
            <a:off x="1791543" y="3691775"/>
            <a:ext cx="2933700" cy="369332"/>
          </a:xfrm>
          <a:prstGeom prst="rect">
            <a:avLst/>
          </a:prstGeom>
          <a:noFill/>
        </p:spPr>
        <p:txBody>
          <a:bodyPr wrap="square">
            <a:spAutoFit/>
          </a:bodyPr>
          <a:lstStyle/>
          <a:p>
            <a:pPr algn="ctr"/>
            <a:r>
              <a:rPr lang="es-ES" b="1" dirty="0">
                <a:solidFill>
                  <a:srgbClr val="FF7987"/>
                </a:solidFill>
                <a:latin typeface="Bahnschrift Condensed" panose="020B0502040204020203" pitchFamily="34" charset="0"/>
              </a:rPr>
              <a:t>Resumen ejecutivo</a:t>
            </a:r>
          </a:p>
        </p:txBody>
      </p:sp>
    </p:spTree>
    <p:extLst>
      <p:ext uri="{BB962C8B-B14F-4D97-AF65-F5344CB8AC3E}">
        <p14:creationId xmlns:p14="http://schemas.microsoft.com/office/powerpoint/2010/main" val="3599587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005414-F2CF-E953-F8F6-332A6191EA23}"/>
              </a:ext>
            </a:extLst>
          </p:cNvPr>
          <p:cNvPicPr>
            <a:picLocks noChangeAspect="1"/>
          </p:cNvPicPr>
          <p:nvPr/>
        </p:nvPicPr>
        <p:blipFill rotWithShape="1">
          <a:blip r:embed="rId2">
            <a:extLst>
              <a:ext uri="{28A0092B-C50C-407E-A947-70E740481C1C}">
                <a14:useLocalDpi xmlns:a14="http://schemas.microsoft.com/office/drawing/2010/main" val="0"/>
              </a:ext>
            </a:extLst>
          </a:blip>
          <a:srcRect r="50000"/>
          <a:stretch/>
        </p:blipFill>
        <p:spPr>
          <a:xfrm>
            <a:off x="0" y="0"/>
            <a:ext cx="6096000" cy="6858000"/>
          </a:xfrm>
          <a:prstGeom prst="rect">
            <a:avLst/>
          </a:prstGeom>
        </p:spPr>
      </p:pic>
      <p:pic>
        <p:nvPicPr>
          <p:cNvPr id="5" name="Picture 4">
            <a:extLst>
              <a:ext uri="{FF2B5EF4-FFF2-40B4-BE49-F238E27FC236}">
                <a16:creationId xmlns:a16="http://schemas.microsoft.com/office/drawing/2014/main" id="{4235AA0E-52F2-7CC5-8D54-AA6D552AC8B3}"/>
              </a:ext>
            </a:extLst>
          </p:cNvPr>
          <p:cNvPicPr>
            <a:picLocks noChangeAspect="1"/>
          </p:cNvPicPr>
          <p:nvPr/>
        </p:nvPicPr>
        <p:blipFill rotWithShape="1">
          <a:blip r:embed="rId2">
            <a:extLst>
              <a:ext uri="{28A0092B-C50C-407E-A947-70E740481C1C}">
                <a14:useLocalDpi xmlns:a14="http://schemas.microsoft.com/office/drawing/2010/main" val="0"/>
              </a:ext>
            </a:extLst>
          </a:blip>
          <a:srcRect l="50000"/>
          <a:stretch/>
        </p:blipFill>
        <p:spPr>
          <a:xfrm>
            <a:off x="6096000" y="-32"/>
            <a:ext cx="6096000" cy="6858000"/>
          </a:xfrm>
          <a:prstGeom prst="rect">
            <a:avLst/>
          </a:prstGeom>
        </p:spPr>
      </p:pic>
      <p:sp>
        <p:nvSpPr>
          <p:cNvPr id="9" name="Freeform: Shape 8">
            <a:extLst>
              <a:ext uri="{FF2B5EF4-FFF2-40B4-BE49-F238E27FC236}">
                <a16:creationId xmlns:a16="http://schemas.microsoft.com/office/drawing/2014/main" id="{9039BF61-30D1-6367-5668-9AE9EE0B944E}"/>
              </a:ext>
            </a:extLst>
          </p:cNvPr>
          <p:cNvSpPr/>
          <p:nvPr/>
        </p:nvSpPr>
        <p:spPr>
          <a:xfrm>
            <a:off x="1" y="-64"/>
            <a:ext cx="12192000" cy="6858064"/>
          </a:xfrm>
          <a:custGeom>
            <a:avLst/>
            <a:gdLst/>
            <a:ahLst/>
            <a:cxnLst/>
            <a:rect l="l" t="t" r="r" b="b"/>
            <a:pathLst>
              <a:path w="12192000" h="6858064">
                <a:moveTo>
                  <a:pt x="2520376" y="3833694"/>
                </a:moveTo>
                <a:lnTo>
                  <a:pt x="2794578" y="3833694"/>
                </a:lnTo>
                <a:cubicBezTo>
                  <a:pt x="2849248" y="3833694"/>
                  <a:pt x="2896230" y="3845226"/>
                  <a:pt x="2935523" y="3868290"/>
                </a:cubicBezTo>
                <a:cubicBezTo>
                  <a:pt x="2974817" y="3891354"/>
                  <a:pt x="3004287" y="3924668"/>
                  <a:pt x="3023934" y="3968233"/>
                </a:cubicBezTo>
                <a:cubicBezTo>
                  <a:pt x="3043581" y="4011797"/>
                  <a:pt x="3053404" y="4064331"/>
                  <a:pt x="3053404" y="4125835"/>
                </a:cubicBezTo>
                <a:lnTo>
                  <a:pt x="3053404" y="4625548"/>
                </a:lnTo>
                <a:cubicBezTo>
                  <a:pt x="3053404" y="4700719"/>
                  <a:pt x="3031622" y="4759233"/>
                  <a:pt x="2988057" y="4801089"/>
                </a:cubicBezTo>
                <a:cubicBezTo>
                  <a:pt x="2944492" y="4842945"/>
                  <a:pt x="2883416" y="4863873"/>
                  <a:pt x="2804829" y="4863873"/>
                </a:cubicBezTo>
                <a:lnTo>
                  <a:pt x="2520376" y="4863873"/>
                </a:lnTo>
                <a:close/>
                <a:moveTo>
                  <a:pt x="10358878" y="3018777"/>
                </a:moveTo>
                <a:lnTo>
                  <a:pt x="10609119" y="4287281"/>
                </a:lnTo>
                <a:lnTo>
                  <a:pt x="10108639" y="4287281"/>
                </a:lnTo>
                <a:close/>
                <a:moveTo>
                  <a:pt x="6686475" y="2342241"/>
                </a:moveTo>
                <a:lnTo>
                  <a:pt x="7019618" y="2342241"/>
                </a:lnTo>
                <a:cubicBezTo>
                  <a:pt x="7074288" y="2342241"/>
                  <a:pt x="7121697" y="2352919"/>
                  <a:pt x="7161844" y="2374274"/>
                </a:cubicBezTo>
                <a:cubicBezTo>
                  <a:pt x="7201992" y="2395630"/>
                  <a:pt x="7232317" y="2426808"/>
                  <a:pt x="7252818" y="2467810"/>
                </a:cubicBezTo>
                <a:cubicBezTo>
                  <a:pt x="7273319" y="2508812"/>
                  <a:pt x="7283569" y="2557503"/>
                  <a:pt x="7283569" y="2613880"/>
                </a:cubicBezTo>
                <a:lnTo>
                  <a:pt x="7283569" y="3029027"/>
                </a:lnTo>
                <a:cubicBezTo>
                  <a:pt x="7283569" y="3080280"/>
                  <a:pt x="7273319" y="3124272"/>
                  <a:pt x="7252818" y="3161003"/>
                </a:cubicBezTo>
                <a:cubicBezTo>
                  <a:pt x="7232317" y="3197734"/>
                  <a:pt x="7201992" y="3225923"/>
                  <a:pt x="7161844" y="3245570"/>
                </a:cubicBezTo>
                <a:cubicBezTo>
                  <a:pt x="7121697" y="3265217"/>
                  <a:pt x="7074288" y="3275040"/>
                  <a:pt x="7019618" y="3275040"/>
                </a:cubicBezTo>
                <a:lnTo>
                  <a:pt x="6686475" y="3275040"/>
                </a:lnTo>
                <a:close/>
                <a:moveTo>
                  <a:pt x="2520376" y="2329428"/>
                </a:moveTo>
                <a:lnTo>
                  <a:pt x="2781765" y="2329428"/>
                </a:lnTo>
                <a:cubicBezTo>
                  <a:pt x="2855227" y="2329428"/>
                  <a:pt x="2912887" y="2350356"/>
                  <a:pt x="2954743" y="2392213"/>
                </a:cubicBezTo>
                <a:cubicBezTo>
                  <a:pt x="2996599" y="2434069"/>
                  <a:pt x="3017527" y="2492582"/>
                  <a:pt x="3017527" y="2567753"/>
                </a:cubicBezTo>
                <a:lnTo>
                  <a:pt x="3017527" y="2967524"/>
                </a:lnTo>
                <a:cubicBezTo>
                  <a:pt x="3017527" y="3056362"/>
                  <a:pt x="2996599" y="3124699"/>
                  <a:pt x="2954743" y="3172535"/>
                </a:cubicBezTo>
                <a:cubicBezTo>
                  <a:pt x="2912887" y="3220371"/>
                  <a:pt x="2854373" y="3244288"/>
                  <a:pt x="2779202" y="3244288"/>
                </a:cubicBezTo>
                <a:lnTo>
                  <a:pt x="2520376" y="3244288"/>
                </a:lnTo>
                <a:close/>
                <a:moveTo>
                  <a:pt x="10135929" y="1734897"/>
                </a:moveTo>
                <a:lnTo>
                  <a:pt x="9246696" y="5460967"/>
                </a:lnTo>
                <a:lnTo>
                  <a:pt x="9877103" y="5460967"/>
                </a:lnTo>
                <a:lnTo>
                  <a:pt x="9991354" y="4881812"/>
                </a:lnTo>
                <a:lnTo>
                  <a:pt x="10726402" y="4881812"/>
                </a:lnTo>
                <a:lnTo>
                  <a:pt x="10840654" y="5460967"/>
                </a:lnTo>
                <a:lnTo>
                  <a:pt x="11471062" y="5460967"/>
                </a:lnTo>
                <a:lnTo>
                  <a:pt x="10581828" y="1734897"/>
                </a:lnTo>
                <a:close/>
                <a:moveTo>
                  <a:pt x="8384227" y="1734897"/>
                </a:moveTo>
                <a:lnTo>
                  <a:pt x="8384227" y="5460967"/>
                </a:lnTo>
                <a:lnTo>
                  <a:pt x="9019760" y="5460967"/>
                </a:lnTo>
                <a:lnTo>
                  <a:pt x="9019760" y="1734897"/>
                </a:lnTo>
                <a:close/>
                <a:moveTo>
                  <a:pt x="4082555" y="1734897"/>
                </a:moveTo>
                <a:lnTo>
                  <a:pt x="4082555" y="5460967"/>
                </a:lnTo>
                <a:lnTo>
                  <a:pt x="4364445" y="5460967"/>
                </a:lnTo>
                <a:lnTo>
                  <a:pt x="4718089" y="5460967"/>
                </a:lnTo>
                <a:lnTo>
                  <a:pt x="5738017" y="5460967"/>
                </a:lnTo>
                <a:lnTo>
                  <a:pt x="5738017" y="4840810"/>
                </a:lnTo>
                <a:lnTo>
                  <a:pt x="4718089" y="4840810"/>
                </a:lnTo>
                <a:lnTo>
                  <a:pt x="4718089" y="3918261"/>
                </a:lnTo>
                <a:lnTo>
                  <a:pt x="5609885" y="3918261"/>
                </a:lnTo>
                <a:lnTo>
                  <a:pt x="5609885" y="3300667"/>
                </a:lnTo>
                <a:lnTo>
                  <a:pt x="4718089" y="3300667"/>
                </a:lnTo>
                <a:lnTo>
                  <a:pt x="4718089" y="2355054"/>
                </a:lnTo>
                <a:lnTo>
                  <a:pt x="5738017" y="2355054"/>
                </a:lnTo>
                <a:lnTo>
                  <a:pt x="5738017" y="1734897"/>
                </a:lnTo>
                <a:lnTo>
                  <a:pt x="4718089" y="1734897"/>
                </a:lnTo>
                <a:lnTo>
                  <a:pt x="4364445" y="1734897"/>
                </a:lnTo>
                <a:close/>
                <a:moveTo>
                  <a:pt x="1882280" y="1734897"/>
                </a:moveTo>
                <a:lnTo>
                  <a:pt x="1882280" y="5460967"/>
                </a:lnTo>
                <a:lnTo>
                  <a:pt x="2246174" y="5460967"/>
                </a:lnTo>
                <a:lnTo>
                  <a:pt x="2520376" y="5460967"/>
                </a:lnTo>
                <a:lnTo>
                  <a:pt x="2902209" y="5460967"/>
                </a:lnTo>
                <a:cubicBezTo>
                  <a:pt x="3067926" y="5460967"/>
                  <a:pt x="3210152" y="5430643"/>
                  <a:pt x="3328888" y="5369994"/>
                </a:cubicBezTo>
                <a:cubicBezTo>
                  <a:pt x="3447623" y="5309345"/>
                  <a:pt x="3537742" y="5220934"/>
                  <a:pt x="3599245" y="5104761"/>
                </a:cubicBezTo>
                <a:cubicBezTo>
                  <a:pt x="3660749" y="4988588"/>
                  <a:pt x="3691501" y="4848498"/>
                  <a:pt x="3691501" y="4684489"/>
                </a:cubicBezTo>
                <a:lnTo>
                  <a:pt x="3691501" y="4177087"/>
                </a:lnTo>
                <a:cubicBezTo>
                  <a:pt x="3691501" y="4055789"/>
                  <a:pt x="3668010" y="3949440"/>
                  <a:pt x="3621028" y="3858039"/>
                </a:cubicBezTo>
                <a:cubicBezTo>
                  <a:pt x="3574046" y="3766639"/>
                  <a:pt x="3506564" y="3692749"/>
                  <a:pt x="3418580" y="3636371"/>
                </a:cubicBezTo>
                <a:cubicBezTo>
                  <a:pt x="3330596" y="3579993"/>
                  <a:pt x="3224247" y="3543263"/>
                  <a:pt x="3099532" y="3526178"/>
                </a:cubicBezTo>
                <a:cubicBezTo>
                  <a:pt x="3213997" y="3507386"/>
                  <a:pt x="3311804" y="3470227"/>
                  <a:pt x="3392954" y="3414704"/>
                </a:cubicBezTo>
                <a:cubicBezTo>
                  <a:pt x="3474104" y="3359180"/>
                  <a:pt x="3536034" y="3288280"/>
                  <a:pt x="3578744" y="3202005"/>
                </a:cubicBezTo>
                <a:cubicBezTo>
                  <a:pt x="3621455" y="3115730"/>
                  <a:pt x="3642810" y="3016214"/>
                  <a:pt x="3642810" y="2903458"/>
                </a:cubicBezTo>
                <a:lnTo>
                  <a:pt x="3642810" y="2503687"/>
                </a:lnTo>
                <a:cubicBezTo>
                  <a:pt x="3642810" y="2341387"/>
                  <a:pt x="3611632" y="2202578"/>
                  <a:pt x="3549274" y="2087259"/>
                </a:cubicBezTo>
                <a:cubicBezTo>
                  <a:pt x="3486917" y="1971941"/>
                  <a:pt x="3395943" y="1884384"/>
                  <a:pt x="3276353" y="1824589"/>
                </a:cubicBezTo>
                <a:cubicBezTo>
                  <a:pt x="3156764" y="1764794"/>
                  <a:pt x="3013256" y="1734897"/>
                  <a:pt x="2845831" y="1734897"/>
                </a:cubicBezTo>
                <a:lnTo>
                  <a:pt x="2520376" y="1734897"/>
                </a:lnTo>
                <a:lnTo>
                  <a:pt x="2246174" y="1734897"/>
                </a:lnTo>
                <a:close/>
                <a:moveTo>
                  <a:pt x="840428" y="1734897"/>
                </a:moveTo>
                <a:lnTo>
                  <a:pt x="840428" y="5460967"/>
                </a:lnTo>
                <a:lnTo>
                  <a:pt x="1475961" y="5460967"/>
                </a:lnTo>
                <a:lnTo>
                  <a:pt x="1475961" y="1734897"/>
                </a:lnTo>
                <a:close/>
                <a:moveTo>
                  <a:pt x="6063755" y="1732334"/>
                </a:moveTo>
                <a:lnTo>
                  <a:pt x="6063755" y="5460967"/>
                </a:lnTo>
                <a:lnTo>
                  <a:pt x="6686475" y="5460967"/>
                </a:lnTo>
                <a:lnTo>
                  <a:pt x="6686475" y="3884947"/>
                </a:lnTo>
                <a:lnTo>
                  <a:pt x="6899582" y="3884947"/>
                </a:lnTo>
                <a:lnTo>
                  <a:pt x="7360448" y="5460967"/>
                </a:lnTo>
                <a:lnTo>
                  <a:pt x="8042109" y="5460967"/>
                </a:lnTo>
                <a:lnTo>
                  <a:pt x="7491245" y="3784630"/>
                </a:lnTo>
                <a:lnTo>
                  <a:pt x="7496268" y="3782442"/>
                </a:lnTo>
                <a:cubicBezTo>
                  <a:pt x="7639775" y="3714105"/>
                  <a:pt x="7749115" y="3614589"/>
                  <a:pt x="7824285" y="3483895"/>
                </a:cubicBezTo>
                <a:cubicBezTo>
                  <a:pt x="7899456" y="3353201"/>
                  <a:pt x="7937041" y="3196453"/>
                  <a:pt x="7937041" y="3013651"/>
                </a:cubicBezTo>
                <a:lnTo>
                  <a:pt x="7937041" y="2578004"/>
                </a:lnTo>
                <a:cubicBezTo>
                  <a:pt x="7937041" y="2400328"/>
                  <a:pt x="7899456" y="2247851"/>
                  <a:pt x="7824285" y="2120573"/>
                </a:cubicBezTo>
                <a:cubicBezTo>
                  <a:pt x="7749115" y="1993296"/>
                  <a:pt x="7640203" y="1896770"/>
                  <a:pt x="7497549" y="1830996"/>
                </a:cubicBezTo>
                <a:cubicBezTo>
                  <a:pt x="7354896" y="1765222"/>
                  <a:pt x="7182772" y="1732334"/>
                  <a:pt x="6981178" y="1732334"/>
                </a:cubicBezTo>
                <a:lnTo>
                  <a:pt x="6686475" y="1732334"/>
                </a:lnTo>
                <a:lnTo>
                  <a:pt x="6348208" y="1732334"/>
                </a:lnTo>
                <a:close/>
                <a:moveTo>
                  <a:pt x="0" y="0"/>
                </a:moveTo>
                <a:lnTo>
                  <a:pt x="12192000" y="0"/>
                </a:lnTo>
                <a:lnTo>
                  <a:pt x="12192000" y="6858064"/>
                </a:lnTo>
                <a:lnTo>
                  <a:pt x="0" y="685806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a:p>
        </p:txBody>
      </p:sp>
      <p:sp>
        <p:nvSpPr>
          <p:cNvPr id="13" name="TextBox 12">
            <a:extLst>
              <a:ext uri="{FF2B5EF4-FFF2-40B4-BE49-F238E27FC236}">
                <a16:creationId xmlns:a16="http://schemas.microsoft.com/office/drawing/2014/main" id="{258E1A1F-96F9-B950-14DC-3FF0430EC479}"/>
              </a:ext>
            </a:extLst>
          </p:cNvPr>
          <p:cNvSpPr txBox="1"/>
          <p:nvPr/>
        </p:nvSpPr>
        <p:spPr>
          <a:xfrm>
            <a:off x="-1" y="205008"/>
            <a:ext cx="12191999" cy="6447919"/>
          </a:xfrm>
          <a:prstGeom prst="rect">
            <a:avLst/>
          </a:prstGeom>
          <a:noFill/>
        </p:spPr>
        <p:txBody>
          <a:bodyPr wrap="square">
            <a:spAutoFit/>
          </a:bodyPr>
          <a:lstStyle>
            <a:defPPr>
              <a:defRPr lang="es-ES"/>
            </a:defPPr>
            <a:lvl1pPr>
              <a:defRPr sz="2800">
                <a:solidFill>
                  <a:schemeClr val="bg1"/>
                </a:solidFill>
                <a:effectLst/>
                <a:ea typeface="menlo"/>
                <a:cs typeface="menlo"/>
              </a:defRPr>
            </a:lvl1pPr>
          </a:lstStyle>
          <a:p>
            <a:pPr algn="ctr"/>
            <a:r>
              <a:rPr lang="en-US" sz="41300" b="1" dirty="0">
                <a:solidFill>
                  <a:schemeClr val="bg1">
                    <a:alpha val="0"/>
                  </a:schemeClr>
                </a:solidFill>
                <a:latin typeface="Bahnschrift Condensed" panose="020B0502040204020203" pitchFamily="34" charset="0"/>
              </a:rPr>
              <a:t>IBERIA</a:t>
            </a:r>
          </a:p>
        </p:txBody>
      </p:sp>
    </p:spTree>
    <p:extLst>
      <p:ext uri="{BB962C8B-B14F-4D97-AF65-F5344CB8AC3E}">
        <p14:creationId xmlns:p14="http://schemas.microsoft.com/office/powerpoint/2010/main" val="269904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1054</TotalTime>
  <Words>926</Words>
  <Application>Microsoft Office PowerPoint</Application>
  <PresentationFormat>Widescreen</PresentationFormat>
  <Paragraphs>187</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Bahnschrift Condensed</vt:lpstr>
      <vt:lpstr>Calibri</vt:lpstr>
      <vt:lpstr>Calibri Light</vt:lpstr>
      <vt:lpstr>Georgia</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dc:creator>
  <cp:lastModifiedBy>DAVID</cp:lastModifiedBy>
  <cp:revision>245</cp:revision>
  <dcterms:created xsi:type="dcterms:W3CDTF">2026-06-19T20:54:04Z</dcterms:created>
  <dcterms:modified xsi:type="dcterms:W3CDTF">2026-06-22T05:21:27Z</dcterms:modified>
</cp:coreProperties>
</file>